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0F2440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21488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" y="21488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E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08176" y="21488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EXECUTIVE SHOWCASE · AUGUST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51460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mbria"/>
              </a:rPr>
              <a:t>Tech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03320"/>
            <a:ext cx="9692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CBD5E1"/>
                </a:solidFill>
                <a:latin typeface="Calibri"/>
              </a:rPr>
              <a:t>A live market-drawdown dashboard, private-portfolio tracker &amp; retirement planner — designed, built, hardened, and documented through conversation with an AI agent.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029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0A106"/>
                </a:solidFill>
                <a:latin typeface="Calibri"/>
              </a:rPr>
              <a:t>Version 1.0</a:t>
            </a:r>
            <a:r>
              <a:rPr sz="1300" b="0">
                <a:solidFill>
                  <a:srgbClr val="94A3B8"/>
                </a:solidFill>
                <a:latin typeface="Calibri"/>
              </a:rPr>
              <a:t>   ·   Rules-based analytics, not financial advice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4F6F9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WHY THIS MATTERS FOR AI ADOPTION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Cambria"/>
              </a:rPr>
              <a:t>One real, production-grade application — built end to end in conversation.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345338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90474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2E75B6"/>
                </a:solidFill>
                <a:latin typeface="Cambria"/>
              </a:rPr>
              <a:t>~1,100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2904744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64748B"/>
                </a:solidFill>
                <a:latin typeface="Calibri"/>
              </a:rPr>
              <a:t>securities monitored across six market universes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784" y="1965960"/>
            <a:ext cx="345338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42104" y="2286000"/>
            <a:ext cx="290474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1D9E75"/>
                </a:solidFill>
                <a:latin typeface="Cambria"/>
              </a:rPr>
              <a:t>Zero-touch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2104" y="3246120"/>
            <a:ext cx="2904744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64748B"/>
                </a:solidFill>
                <a:latin typeface="Calibri"/>
              </a:rPr>
              <a:t>daily refresh — fully unattended automation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5488" y="1965960"/>
            <a:ext cx="345338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9808" y="2286000"/>
            <a:ext cx="290474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E0A106"/>
                </a:solidFill>
                <a:latin typeface="Cambria"/>
              </a:rPr>
              <a:t>1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9808" y="3246120"/>
            <a:ext cx="2904744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64748B"/>
                </a:solidFill>
                <a:latin typeface="Calibri"/>
              </a:rPr>
              <a:t>self-contained web page; opens anywhere, nothing to install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No dev team spun up. No infrastructure stood up. A spreadsheet-and-manual-lookup problem became a self-updating system — the same pattern you can bring to client workflows.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24B4A"/>
                </a:solidFill>
                <a:latin typeface="Calibri"/>
              </a:rPr>
              <a:t>THE PROBLEM IT REPLACES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Spreadsheets couldn't keep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53384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743200"/>
            <a:ext cx="2941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Stale, error-prone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08960"/>
            <a:ext cx="29413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Values and drawdowns were only as fresh as the last manual refresh; off-index holdings were mis-valued from outdated figures.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7784" y="1783080"/>
            <a:ext cx="3453384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23816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3816" y="2743200"/>
            <a:ext cx="2941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No single 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3816" y="3108960"/>
            <a:ext cx="29413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Market context, personal holdings, and retirement projections lived in separate files — hard to see the whole picture or act quickly.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783080"/>
            <a:ext cx="3453384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51520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1520" y="2743200"/>
            <a:ext cx="2941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High manual effort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1520" y="3108960"/>
            <a:ext cx="29413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Keeping everything current consumed hours every week and was easy to forget or get wrong.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Cambria"/>
              </a:rPr>
              <a:t>Hours of upkeep,</a:t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Cambria"/>
              </a:rPr>
              <a:t>every week.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6072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Manual, fragmented, and always a little out of date.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4F6F9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One always-current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8521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A single, self-updating web page that unifies three things at a glance: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Which stocks and funds are in a drawdown — and how deep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What every holding is worth at today's live prices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Whether the household is on track for retirement income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64748B"/>
                </a:solidFill>
                <a:latin typeface="Calibri"/>
              </a:rPr>
              <a:t>…and now: how it performs against the market, what changed overnight, and what it will pay in dividends.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828800"/>
            <a:ext cx="22860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50608" y="204825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6517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Market drawdown &amp; trend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828800"/>
            <a:ext cx="22860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19488" y="204825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26517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Live private portfolios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3246120"/>
            <a:ext cx="22860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50608" y="346557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40690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Retirement &amp; income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3246120"/>
            <a:ext cx="22860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19488" y="346557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0" y="40690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Fundamentals + factsheet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What it delivers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908792" cy="131673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08792" cy="131673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233672"/>
            <a:ext cx="10908792" cy="131673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550408"/>
            <a:ext cx="10908792" cy="6583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37360"/>
            <a:ext cx="246888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Calibri"/>
              </a:rPr>
              <a:t>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737360"/>
            <a:ext cx="7982712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1F2937"/>
                </a:solidFill>
                <a:latin typeface="Calibri"/>
              </a:rPr>
              <a:t>~1,100 securities — S&amp;P 500, Nasdaq-100, Dow, Top-100 ETFs, Thematic ETFs, Mutual Funds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95728"/>
            <a:ext cx="246888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Calibri"/>
              </a:rPr>
              <a:t>Private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95728"/>
            <a:ext cx="7982712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1F2937"/>
                </a:solidFill>
                <a:latin typeface="Calibri"/>
              </a:rPr>
              <a:t>IRA (income focus) + Brokerage (growth focus) + a household retirement planner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54096"/>
            <a:ext cx="246888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Calibri"/>
              </a:rPr>
              <a:t>Refresh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054096"/>
            <a:ext cx="7982712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1F2937"/>
                </a:solidFill>
                <a:latin typeface="Calibri"/>
              </a:rPr>
              <a:t>Automatic daily at 9am, plus an on-demand 'Load live prices' button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12464"/>
            <a:ext cx="246888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Calibri"/>
              </a:rPr>
              <a:t>History &amp; income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712464"/>
            <a:ext cx="7982712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1F2937"/>
                </a:solidFill>
                <a:latin typeface="Calibri"/>
              </a:rPr>
              <a:t>Rolling daily value history → benchmark vs Dow/Nasdaq/S&amp;P, drawdown timeline, change alerts, and a forward 12-month dividend 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70832"/>
            <a:ext cx="246888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Calibri"/>
              </a:rPr>
              <a:t>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370832"/>
            <a:ext cx="7982712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1F2937"/>
                </a:solidFill>
                <a:latin typeface="Calibri"/>
              </a:rPr>
              <a:t>Single self-contained web page — opens in any browser, works offline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246888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Calibri"/>
              </a:rPr>
              <a:t>Data privacy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5029200"/>
            <a:ext cx="7982712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1F2937"/>
                </a:solidFill>
                <a:latin typeface="Calibri"/>
              </a:rPr>
              <a:t>Holdings stay local; only ticker symbols are sent, only for public market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687568"/>
            <a:ext cx="246888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Calibri"/>
              </a:rPr>
              <a:t>Reliability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5687568"/>
            <a:ext cx="7982712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1F2937"/>
                </a:solidFill>
                <a:latin typeface="Calibri"/>
              </a:rPr>
              <a:t>Integrity-gated automation — always falls back to the last good state, never blanks a holding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4F6F9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FEATURE · MARKET-CONTEXT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A health spectrum,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The whole universe, de-duplicated and sorted into three color-coded columns — every ticker tagged with the index it belongs 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42900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3429000" cy="548640"/>
          </a:xfrm>
          <a:prstGeom prst="rect">
            <a:avLst/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Best performing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MRNA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90779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S&amp;P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264408"/>
            <a:ext cx="2651760" cy="82296"/>
          </a:xfrm>
          <a:prstGeom prst="rect">
            <a:avLst/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3872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WCBR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5661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THM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922776"/>
            <a:ext cx="1909267" cy="82296"/>
          </a:xfrm>
          <a:prstGeom prst="rect">
            <a:avLst/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9709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224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ETF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581144"/>
            <a:ext cx="1166774" cy="82296"/>
          </a:xfrm>
          <a:prstGeom prst="rect">
            <a:avLst/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Calibri"/>
              </a:rPr>
              <a:t>+ top-10 · click any ticker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103120"/>
            <a:ext cx="342900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2103120"/>
            <a:ext cx="3429000" cy="548640"/>
          </a:xfrm>
          <a:prstGeom prst="rect">
            <a:avLst/>
          </a:prstGeom>
          <a:solidFill>
            <a:srgbClr val="E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19456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In 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MU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90779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S&amp;P·NDX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264408"/>
            <a:ext cx="2651760" cy="82296"/>
          </a:xfrm>
          <a:prstGeom prst="rect">
            <a:avLst/>
          </a:prstGeom>
          <a:solidFill>
            <a:srgbClr val="E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53872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MCD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35661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S&amp;P·DOW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3922776"/>
            <a:ext cx="1909267" cy="82296"/>
          </a:xfrm>
          <a:prstGeom prst="rect">
            <a:avLst/>
          </a:prstGeom>
          <a:solidFill>
            <a:srgbClr val="E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419709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PBW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4224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THM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4581144"/>
            <a:ext cx="1166774" cy="82296"/>
          </a:xfrm>
          <a:prstGeom prst="rect">
            <a:avLst/>
          </a:prstGeom>
          <a:solidFill>
            <a:srgbClr val="E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52578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Calibri"/>
              </a:rPr>
              <a:t>+ top-10 · click any ticker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2103120"/>
            <a:ext cx="342900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20" y="2103120"/>
            <a:ext cx="3429000" cy="548640"/>
          </a:xfrm>
          <a:prstGeom prst="rect">
            <a:avLst/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19456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Worst drawdown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TTD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290779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S&amp;P·NDX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21040" y="3264408"/>
            <a:ext cx="2651760" cy="82296"/>
          </a:xfrm>
          <a:prstGeom prst="rect">
            <a:avLst/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353872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FISV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35661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S&amp;P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21040" y="3922776"/>
            <a:ext cx="1909267" cy="82296"/>
          </a:xfrm>
          <a:prstGeom prst="rect">
            <a:avLst/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419709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MSTR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4224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NDX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21040" y="4581144"/>
            <a:ext cx="1166774" cy="82296"/>
          </a:xfrm>
          <a:prstGeom prst="rect">
            <a:avLst/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52578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Calibri"/>
              </a:rPr>
              <a:t>+ top-10 · click any ticker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FEATURE · MARKET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One-year charts — indices &amp; macro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199339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97480"/>
            <a:ext cx="48828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US indices · 1-year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063240"/>
            <a:ext cx="4882896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Own-scale sparklines for the Dow, Nasdaq, S&amp;P 500 and Russell 2000 — read each index directly, not rescaled against the others. Built once, embedded, no runtime calls.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65392" y="199339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697480"/>
            <a:ext cx="48828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Macro &amp; commodities · 1-year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3063240"/>
            <a:ext cx="4882896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Oil, gold, silver, copper, rare earths (ETF proxy), the US dollar vs four major currencies, and consumer sentiment — the wider backdrop behind the portfolio, in one card. Any series the data plan gates is simply omitted; the card shows the rest.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4F6F9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FEATURE · PRIVATE PORTFOLIOS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Your holdings, valued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1264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Market value = quantity × today's live price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IRA (income) and Brokerage (growth) tabs, each with allocation and gain/loss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guarded pricing rule rejects a corrupt quote and falls back safely — one bad number can never mis-state the portfolio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Off-index holdings priced individually, so nothing is valued from a stale figure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828800"/>
            <a:ext cx="411480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057400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2761488"/>
            <a:ext cx="3566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Edit a flat export — the next run re-imports it and prices new names automatically.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Calibri"/>
              </a:rPr>
              <a:t>Holdings never leave the machine. Only ticker symbols go 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FEATURE · RETIREMENT &amp; INCOME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Planned to a retirement 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533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743200"/>
            <a:ext cx="2941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Two-account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08960"/>
            <a:ext cx="29413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IRA modeled for income, Brokerage for growth — roles baked into the projection.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7784" y="1783080"/>
            <a:ext cx="34533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23816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3816" y="2743200"/>
            <a:ext cx="2941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Projections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3816" y="3108960"/>
            <a:ext cx="29413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Household balances and sustainable income projected to your target 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783080"/>
            <a:ext cx="34533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51520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1520" y="2743200"/>
            <a:ext cx="2941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Rebalance targets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1520" y="3108960"/>
            <a:ext cx="29413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See current plan vs. a rebalance plan, with the difference called 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4F6F9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86"/>
                </a:solidFill>
                <a:latin typeface="Calibri"/>
              </a:rPr>
              <a:t>FEATURE · INCOME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What will it pay me, and when?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A forward 12-month dividend calendar across every holding — the question an income portfolio exists to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Projected annual income, forward yield on market value, and income due in the next 30 days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month-by-month chart split by account — IRA (income engine) vs Brokerage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An upcoming-payments list with exact ex-dividend, record and pay dates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14800"/>
            <a:ext cx="612648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5196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86"/>
                </a:solidFill>
                <a:latin typeface="Calibri"/>
              </a:rPr>
              <a:t>Honest by design.  </a:t>
            </a:r>
            <a:r>
              <a:rPr sz="1200" b="0">
                <a:solidFill>
                  <a:srgbClr val="1F2937"/>
                </a:solidFill>
                <a:latin typeface="Calibri"/>
              </a:rPr>
              <a:t>Declared payments show an exact date and render green. Where the data plan gates per-symbol dates (ETFs and funds), income is estimated from yield × value, placed at month level, and labelled </a:t>
            </a:r>
            <a:r>
              <a:rPr sz="1200" b="1">
                <a:solidFill>
                  <a:srgbClr val="1F2937"/>
                </a:solidFill>
                <a:latin typeface="Calibri"/>
              </a:rPr>
              <a:t>estimated</a:t>
            </a:r>
            <a:r>
              <a:rPr sz="1200" b="0">
                <a:solidFill>
                  <a:srgbClr val="1F2937"/>
                </a:solidFill>
                <a:latin typeface="Calibri"/>
              </a:rPr>
              <a:t> — never silently faked.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2103120"/>
            <a:ext cx="41148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2331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Dividend income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9748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Calibri"/>
              </a:rPr>
              <a:t>Projected next 12 months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3945636"/>
            <a:ext cx="274320" cy="35204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2712" y="3875228"/>
            <a:ext cx="274320" cy="42245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84464" y="3342132"/>
            <a:ext cx="274320" cy="9555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86216" y="3915461"/>
            <a:ext cx="274320" cy="382219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87968" y="3895344"/>
            <a:ext cx="274320" cy="402336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9720" y="3372308"/>
            <a:ext cx="274320" cy="9253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91472" y="3935578"/>
            <a:ext cx="274320" cy="36210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93224" y="3855111"/>
            <a:ext cx="274320" cy="442569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94976" y="3392424"/>
            <a:ext cx="274320" cy="9052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396728" y="3955695"/>
            <a:ext cx="274320" cy="34198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698480" y="3885286"/>
            <a:ext cx="274320" cy="41239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000232" y="3412541"/>
            <a:ext cx="274320" cy="885139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43891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quarter-end months stack on the monthly ETFs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4754880"/>
            <a:ext cx="3566160" cy="274320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20" y="4772000"/>
            <a:ext cx="3383280" cy="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D9E75"/>
                </a:solidFill>
                <a:latin typeface="Calibri"/>
              </a:rPr>
              <a:t>declared</a:t>
            </a:r>
            <a:r>
              <a:rPr sz="950" b="0">
                <a:solidFill>
                  <a:srgbClr val="64748B"/>
                </a:solidFill>
                <a:latin typeface="Calibri"/>
              </a:rPr>
              <a:t>  ·  exact date    </a:t>
            </a:r>
            <a:r>
              <a:rPr sz="950" b="1">
                <a:solidFill>
                  <a:srgbClr val="E0A93B"/>
                </a:solidFill>
                <a:latin typeface="Calibri"/>
              </a:rPr>
              <a:t>estimated</a:t>
            </a:r>
            <a:r>
              <a:rPr sz="950" b="0">
                <a:solidFill>
                  <a:srgbClr val="64748B"/>
                </a:solidFill>
                <a:latin typeface="Calibri"/>
              </a:rPr>
              <a:t>  ·  month level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Calibri"/>
              </a:rPr>
              <a:t>FEATURE ·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Am I beating the market?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A rolling daily history turned a point-in-time snapshot into something that can answer 'versus what?' and 'since when?'.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31723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35915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063240"/>
            <a:ext cx="48051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Portfolio vs the 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429000"/>
            <a:ext cx="4805172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Household value indexed to 100 against the Dow, Nasdaq and S&amp;P 500, with a live alpha readout. No fabricated back-cast — the comparison accrues honestly from the day it was switched 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2103120"/>
            <a:ext cx="531723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87668" y="235915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3063240"/>
            <a:ext cx="48051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Drawdown timeline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7668" y="3429000"/>
            <a:ext cx="4805172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An underwater chart: how far the portfolio and each index sit below their own running peak over the past year, with the Correction (−10%) and Bear (−20%) bands shaded.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4F6F9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93B"/>
                </a:solidFill>
                <a:latin typeface="Calibri"/>
              </a:rPr>
              <a:t>FEATURE · SIGNAL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What changed since yesterday?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Stop re-scanning the whole board every morning to find the two things that moved.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daily diff of held names: entered Bear or Correction, Golden or Death Cross, recovered, or hit a new 52-week low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Shown as a colour-coded icon beside the ticker — click it for the from→to detail and history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Listed in the automated run report, so the change is in the record too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06240"/>
            <a:ext cx="612648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34340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93B"/>
                </a:solidFill>
                <a:latin typeface="Calibri"/>
              </a:rPr>
              <a:t>Zero new data calls.  </a:t>
            </a:r>
            <a:r>
              <a:rPr sz="1200" b="0">
                <a:solidFill>
                  <a:srgbClr val="1F2937"/>
                </a:solidFill>
                <a:latin typeface="Calibri"/>
              </a:rPr>
              <a:t>Every field it needs is already on hand. And it is guarded by the integrity check — a corrupt price can never fabricate a Death Cross. An alert system that cries wolf once is worse than none at 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2103120"/>
            <a:ext cx="41148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23317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Calibri"/>
              </a:rPr>
              <a:t>Changes since yesterday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8348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2789136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SNOW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278913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Golden Cross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33012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255480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NVO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325548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Death Cross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37675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3721824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ACHR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3721824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Death Cross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423388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E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4188168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ASML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4188168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entered Correction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7002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9560" y="4654512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Calibri"/>
              </a:rPr>
              <a:t>META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4654512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recovered to Correction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FEATURE · 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One line implies a certainty that doesn't exist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A retirement projection is a distribution, not a forecast. So show the distribution.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6126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10,000 simulated paths of household value — median plus 10th / 25th / 75th / 90th percentile bands, on a KPI tile that opens a fan chart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User controls for horizon, annual contribution and return assumptions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Seeded and reproducible — a projection that changes every time you open it is a slot machine, not a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97680"/>
            <a:ext cx="6126480" cy="100584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3484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No new data source.  </a:t>
            </a:r>
            <a:r>
              <a:rPr sz="1200" b="0">
                <a:solidFill>
                  <a:srgbClr val="1F2937"/>
                </a:solidFill>
                <a:latin typeface="Calibri"/>
              </a:rPr>
              <a:t>Volatility is estimated from the 52-week high/low already sitting in every row of the table. Look hard at what your data can already tell you before you go shopping for a new feed.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2103120"/>
            <a:ext cx="41148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23317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Calibri"/>
              </a:rPr>
              <a:t>Median @ year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4260000"/>
            <a:ext cx="200000" cy="80000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80960" y="4282000"/>
            <a:ext cx="200000" cy="3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4288000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2538" y="4152309"/>
            <a:ext cx="200000" cy="172306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22538" y="4199694"/>
            <a:ext cx="200000" cy="775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22538" y="4226462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4116" y="4044617"/>
            <a:ext cx="200000" cy="264614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64116" y="4117386"/>
            <a:ext cx="200000" cy="1190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64116" y="4164924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05694" y="3936924"/>
            <a:ext cx="200000" cy="356922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05694" y="4035078"/>
            <a:ext cx="200000" cy="16061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05694" y="4103385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47272" y="3829232"/>
            <a:ext cx="200000" cy="449230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47272" y="3952771"/>
            <a:ext cx="200000" cy="202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47272" y="4041847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88850" y="3721539"/>
            <a:ext cx="200000" cy="541538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8850" y="3870462"/>
            <a:ext cx="200000" cy="243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88850" y="3980308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30428" y="3613847"/>
            <a:ext cx="200000" cy="633846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30428" y="3788155"/>
            <a:ext cx="200000" cy="28523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30428" y="3918770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006" y="3506155"/>
            <a:ext cx="200000" cy="726152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006" y="3705847"/>
            <a:ext cx="200000" cy="3267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006" y="3857231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13584" y="3398463"/>
            <a:ext cx="200000" cy="818460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13584" y="3623540"/>
            <a:ext cx="200000" cy="36830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13584" y="3795693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855162" y="3290770"/>
            <a:ext cx="200000" cy="910768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5162" y="3541232"/>
            <a:ext cx="200000" cy="4098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55162" y="3734154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96740" y="3183078"/>
            <a:ext cx="200000" cy="1003076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96740" y="3458924"/>
            <a:ext cx="200000" cy="4513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096740" y="3672616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38318" y="3075385"/>
            <a:ext cx="200000" cy="1095384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338318" y="3376616"/>
            <a:ext cx="200000" cy="49292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338318" y="3611077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579896" y="2967693"/>
            <a:ext cx="200000" cy="1187692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79896" y="3294309"/>
            <a:ext cx="200000" cy="5344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79896" y="3549539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821474" y="2860000"/>
            <a:ext cx="200000" cy="1280000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821474" y="3212000"/>
            <a:ext cx="200000" cy="57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821474" y="3488000"/>
            <a:ext cx="200000" cy="24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80960" y="4700000"/>
            <a:ext cx="3566160" cy="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median path · bands = 25th–75th and 10th–90th percentile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4F6F9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FEATURE · 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Is it actually worth what it costs?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The question the whole dashboard implies — and never answered until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61264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three-stage DCF per held stock — analyst consensus, a 10-year fade, then a rebuilt steady state — shown as a fair-value strip beside the market price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Every judgement input is a user control: capex intensity, fade, terminal growth, beta, risk-free rate, equity risk premium, consensus haircut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reverse DCF reports the discount rate the market is implicitly applying to consensus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Trefis-style segment sum-of-the-parts tab values each business line separately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612648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52628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Benchmarked externally, or it doesn't ship.  </a:t>
            </a:r>
            <a:r>
              <a:rPr sz="1200" b="0">
                <a:solidFill>
                  <a:srgbClr val="1F2937"/>
                </a:solidFill>
                <a:latin typeface="Calibri"/>
              </a:rPr>
              <a:t>This model was built three times before it was right — each time ‘verified’ against the vendor's own model, which only ever proved a flawed model had been faithfully reproduced. Internal consistency is not correctness.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2011680"/>
            <a:ext cx="41148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224028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Calibri"/>
              </a:rPr>
              <a:t>Fair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743200"/>
            <a:ext cx="3383280" cy="5943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7160" y="28117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Calibri"/>
              </a:rPr>
              <a:t>MSFT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8117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$583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7160" y="3063240"/>
            <a:ext cx="3109280" cy="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vs $600 independent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3474720"/>
            <a:ext cx="3383280" cy="5943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7160" y="35433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Calibri"/>
              </a:rPr>
              <a:t>NVDA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5433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$267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7160" y="3794760"/>
            <a:ext cx="3109280" cy="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vs $280 independent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4206240"/>
            <a:ext cx="3383280" cy="5943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7160" y="42748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Calibri"/>
              </a:rPr>
              <a:t>AMD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42748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93B"/>
                </a:solidFill>
                <a:latin typeface="Calibri"/>
              </a:rPr>
              <a:t>segment view refused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7160" y="4526280"/>
            <a:ext cx="3109280" cy="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segments overstate revenue 12%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983480"/>
            <a:ext cx="3566160" cy="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refusing to render, with a reason, is a feature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24B4A"/>
                </a:solidFill>
                <a:latin typeface="Calibri"/>
              </a:rPr>
              <a:t>FEATURE · X-RAY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What do I actually own?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Single-name risk arrives through funds, not just through shares — and the account tabs cannot see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6126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Every held ETF and mutual fund decomposed into its underlying companies, then combined with the directly held shares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duplicate-tracker check — three separate S&amp;P 500 trackers held side by side is one bet, not three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Explicit buckets for each fund's long tail, cash inside funds, and any fund not yet mapped — reconciled to the household total, to the dollar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97680"/>
            <a:ext cx="6126480" cy="100584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3484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24B4A"/>
                </a:solidFill>
                <a:latin typeface="Calibri"/>
              </a:rPr>
              <a:t>A look-through that hides its gaps  </a:t>
            </a:r>
            <a:r>
              <a:rPr sz="1200" b="0">
                <a:solidFill>
                  <a:srgbClr val="1F2937"/>
                </a:solidFill>
                <a:latin typeface="Calibri"/>
              </a:rPr>
              <a:t>understates the exact concentration it exists to reveal. So while any fund is unmapped, every figure is presented as a floor — ‘at least’, never a total.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2103120"/>
            <a:ext cx="41148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23317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Calibri"/>
              </a:rPr>
              <a:t>True single-name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8346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Calibri"/>
              </a:rPr>
              <a:t>NVDA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2880360"/>
            <a:ext cx="914400" cy="137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44200" y="28346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F2937"/>
                </a:solidFill>
                <a:latin typeface="Calibri"/>
              </a:rPr>
              <a:t>6.2%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2918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Calibri"/>
              </a:rPr>
              <a:t>AAPL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3337560"/>
            <a:ext cx="502920" cy="137160"/>
          </a:xfrm>
          <a:prstGeom prst="rect">
            <a:avLst/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89720" y="3337560"/>
            <a:ext cx="411480" cy="137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44200" y="32918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F2937"/>
                </a:solidFill>
                <a:latin typeface="Calibri"/>
              </a:rPr>
              <a:t>5.1%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749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Calibri"/>
              </a:rPr>
              <a:t>MSFT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3794760"/>
            <a:ext cx="365760" cy="137160"/>
          </a:xfrm>
          <a:prstGeom prst="rect">
            <a:avLst/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3794760"/>
            <a:ext cx="548640" cy="137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44200" y="3749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F2937"/>
                </a:solidFill>
                <a:latin typeface="Calibri"/>
              </a:rPr>
              <a:t>4.8%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206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Calibri"/>
              </a:rPr>
              <a:t>AMZN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4251960"/>
            <a:ext cx="731520" cy="137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4420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F2937"/>
                </a:solidFill>
                <a:latin typeface="Calibri"/>
              </a:rPr>
              <a:t>3.4%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6634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Calibri"/>
              </a:rPr>
              <a:t>AVGO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4709160"/>
            <a:ext cx="274320" cy="137160"/>
          </a:xfrm>
          <a:prstGeom prst="rect">
            <a:avLst/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61120" y="4709160"/>
            <a:ext cx="320040" cy="137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44200" y="46634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F2937"/>
                </a:solidFill>
                <a:latin typeface="Calibri"/>
              </a:rPr>
              <a:t>2.2%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937760"/>
            <a:ext cx="3566160" cy="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green = shares you hold · purple = reaching you through funds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FEATURE · FUNDAMENTALS POPUP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Click any ticker — get the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1264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Factsheet — a plain-English summary + a vitals grid (sector, HQ, founded, employees, market cap / issuer, expense, AUM, holdings)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data-derived “Did you know?” fun fact on every name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An 8-factor risk summary (incl. supply-chain) and an advisor scorecard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Cached locally, refreshed daily — fast on repeat opens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828800"/>
            <a:ext cx="41148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20574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Calibri"/>
              </a:rPr>
              <a:t>Apple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39572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Calibri"/>
              </a:rPr>
              <a:t>Technology · Consumer Electronics · Cupertino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6974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Calibri"/>
              </a:rPr>
              <a:t>Designs iPhone, Mac &amp; iPad plus a fast-growing Services arm; among the world's most valuable companies.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611880"/>
            <a:ext cx="3566160" cy="868680"/>
          </a:xfrm>
          <a:prstGeom prst="rect">
            <a:avLst/>
          </a:prstGeom>
          <a:solidFill>
            <a:srgbClr val="F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3703320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Did you know?  </a:t>
            </a:r>
            <a:r>
              <a:rPr sz="1100" b="0">
                <a:solidFill>
                  <a:srgbClr val="1F2937"/>
                </a:solidFill>
                <a:latin typeface="Calibri"/>
              </a:rPr>
              <a:t>Founded in a garage in 1976 — now one of a handful of companies ever worth over $3 trillion.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4F6F9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Calibri"/>
              </a:rPr>
              <a:t>FEATURE · RULES-BASED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Rankings you can customize — and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 Sector, fund/category, and growth-core rankings on a declarative rules engine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 Tune weights, thresholds, and IF/THEN conditions live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 Every score traces to its rules — a per-row breakdown popover explains it</a:t>
            </a:r>
          </a:p>
        </p:txBody>
      </p:sp>
      <p:pic>
        <p:nvPicPr>
          <p:cNvPr id="7" name="Picture 6" descr="08_ranking_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871" y="2560320"/>
            <a:ext cx="604521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FEATURE · DAILY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Zero-touch, every morning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087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Fetch → build → guard → import → reprice → recompute → alert → project income → regenerate → publish — with a safe fallback at every rung.</a:t>
            </a:r>
          </a:p>
        </p:txBody>
      </p:sp>
      <p:pic>
        <p:nvPicPr>
          <p:cNvPr id="7" name="Picture 6" descr="04_schedule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143" y="1965960"/>
            <a:ext cx="1420665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4F6F9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9E75"/>
                </a:solidFill>
                <a:latin typeface="Calibri"/>
              </a:rPr>
              <a:t>FEATURE · RELIABILITY &amp; DATA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Built to be trusted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533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743200"/>
            <a:ext cx="2941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Integrity guard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08960"/>
            <a:ext cx="29413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Every row checked against its 52-week band; corrupt / #N/A values are suppressed and flagged with a ⚠ badge — and suppressed rows can never raise a false alert.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7784" y="1783080"/>
            <a:ext cx="34533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23816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3816" y="2743200"/>
            <a:ext cx="2941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Fallback ladder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3816" y="3108960"/>
            <a:ext cx="29413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FMP live → workbook tail → carry-forward. A total outage degrades safely to the last good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783080"/>
            <a:ext cx="34533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51520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1520" y="2743200"/>
            <a:ext cx="2941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Never blanks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1520" y="3108960"/>
            <a:ext cx="29413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Holdings, rankings, charts, history, alerts and the dividend calendar are all preserved on any failure — the dashboard never breaks.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Logging &amp; a debug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31723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235915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063240"/>
            <a:ext cx="48051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Structured run logs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429000"/>
            <a:ext cx="4805172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Every daily run writes a per-run event stream, a human-readable report, and an append-only history — auto-pruned. A failed run is diagnosable after the fact.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2103120"/>
            <a:ext cx="531723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87668" y="235915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7668" y="3063240"/>
            <a:ext cx="48051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Opt-in debug panel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7668" y="3429000"/>
            <a:ext cx="4805172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Enable with ?debug=1 or Shift+D (off by default). See connector calls, data provenance, cache state, and errors — with a one-click copy-report for support.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4F6F9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21</a:t>
            </a:r>
          </a:p>
        </p:txBody>
      </p:sp>
      <p:pic>
        <p:nvPicPr>
          <p:cNvPr id="6" name="Picture 5" descr="0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68954"/>
            <a:ext cx="10908792" cy="443449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WHY IT HOLDS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Engineering discipline the AI applied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743200"/>
            <a:ext cx="20093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Modular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08960"/>
            <a:ext cx="200939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A single-file app assembled from 23 concern-based modules — with a byte-for-byte golden-master guard.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5858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91890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91890" y="2743200"/>
            <a:ext cx="20093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Verified changes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1890" y="3108960"/>
            <a:ext cx="200939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Edits validated in a stubbed-DOM harness, not just a syntax check — regressions caught before publish.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87668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7668" y="2743200"/>
            <a:ext cx="20093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Provider adapter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7668" y="3108960"/>
            <a:ext cx="200939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All connector I/O behind one boundary — a provider or shape change is a one-place edit.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27414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83446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3446" y="2743200"/>
            <a:ext cx="20093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Integrity gates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3446" y="3108960"/>
            <a:ext cx="200939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Guards and safe fallbacks at every automated step — speed without fragility.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0F2440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THE AI-ADOPTION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</a:rPr>
              <a:t>How it was built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2560320" cy="3200400"/>
          </a:xfrm>
          <a:prstGeom prst="roundRect">
            <a:avLst>
              <a:gd name="adj" fmla="val 5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00200" y="224028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C93AB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Clarify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A couple of pointed questions before each step — build the right thing, not the wrong thing.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2560320" cy="3200400"/>
          </a:xfrm>
          <a:prstGeom prst="roundRect">
            <a:avLst>
              <a:gd name="adj" fmla="val 5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224028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C93AB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383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Plan + mock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79476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Show a plan and a visual mockup, agree, then build — no surprises.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20240"/>
            <a:ext cx="2560320" cy="3200400"/>
          </a:xfrm>
          <a:prstGeom prst="roundRect">
            <a:avLst>
              <a:gd name="adj" fmla="val 5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178040" y="224028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C93AB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383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Small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79476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One capability per prompt, validated, then the next — reversible and traceable.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920240"/>
            <a:ext cx="2560320" cy="3200400"/>
          </a:xfrm>
          <a:prstGeom prst="roundRect">
            <a:avLst>
              <a:gd name="adj" fmla="val 5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66960" y="224028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C93AB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383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Harden + doc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79476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Guards, tests, and living docs so it's production-grade, not a demo.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C93A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C93A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DELIVERY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Baseline v1.0 is the starting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7360" y="3108960"/>
            <a:ext cx="8714232" cy="12700"/>
          </a:xfrm>
          <a:prstGeom prst="rect">
            <a:avLst/>
          </a:prstGeom>
          <a:solidFill>
            <a:srgbClr val="E5E9F0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91056" y="296265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2E75B6"/>
                </a:solidFill>
                <a:latin typeface="Cambria"/>
              </a:rPr>
              <a:t>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2574036" y="3429000"/>
            <a:ext cx="86227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9-tab dashboard, live portfolios, retirement, ranking, valuation, look-through, daily automation, docs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05288" y="296265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28632" y="21488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64748B"/>
                </a:solidFill>
                <a:latin typeface="Cambria"/>
              </a:rPr>
              <a:t>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8632" y="2542032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Backlog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0196" y="3429000"/>
            <a:ext cx="86227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Tax-lot, PDF/email, corporate actions, saved scenarios, security/CI, Morningstar FVE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0F2440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</a:rPr>
              <a:t>What it's worth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2521458" cy="2560320"/>
          </a:xfrm>
          <a:prstGeom prst="roundRect">
            <a:avLst>
              <a:gd name="adj" fmla="val 6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9936"/>
            <a:ext cx="206425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E0A106"/>
                </a:solidFill>
                <a:latin typeface="Cambria"/>
              </a:rPr>
              <a:t>Hours →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91840"/>
            <a:ext cx="206425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weekly upkeep replaced by a zero-touch daily refresh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5858" y="2103120"/>
            <a:ext cx="2521458" cy="2560320"/>
          </a:xfrm>
          <a:prstGeom prst="roundRect">
            <a:avLst>
              <a:gd name="adj" fmla="val 6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4458" y="2469936"/>
            <a:ext cx="206425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D9E75"/>
                </a:solidFill>
                <a:latin typeface="Cambria"/>
              </a:rPr>
              <a:t>100%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4458" y="3291840"/>
            <a:ext cx="206425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holdings never leave the machine — private by design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2103120"/>
            <a:ext cx="2521458" cy="2560320"/>
          </a:xfrm>
          <a:prstGeom prst="roundRect">
            <a:avLst>
              <a:gd name="adj" fmla="val 6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0236" y="2469936"/>
            <a:ext cx="206425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75B6"/>
                </a:solidFill>
                <a:latin typeface="Cambria"/>
              </a:rPr>
              <a:t>1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0236" y="3291840"/>
            <a:ext cx="206425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shareable, installs nothing, works offline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27414" y="2103120"/>
            <a:ext cx="2521458" cy="2560320"/>
          </a:xfrm>
          <a:prstGeom prst="roundRect">
            <a:avLst>
              <a:gd name="adj" fmla="val 6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56014" y="2469936"/>
            <a:ext cx="206425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E24B4A"/>
                </a:solidFill>
                <a:latin typeface="Cambria"/>
              </a:rPr>
              <a:t>Adaptable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6014" y="3291840"/>
            <a:ext cx="206425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rules, universe, and features change by conversation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C93A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C93A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4F6F9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FOR YOUR CLIENT ENGAGEMENTS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The repeatable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743200"/>
            <a:ext cx="20093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Find the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08960"/>
            <a:ext cx="200939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A spreadsheet-and-manual-lookup process that's stale, fragmented, and high-effort.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5858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91890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91890" y="2743200"/>
            <a:ext cx="20093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Build conversationally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1890" y="3108960"/>
            <a:ext cx="200939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Plan, mock, and build feature by feature — in the client's own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87668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7668" y="2743200"/>
            <a:ext cx="20093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Harden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7668" y="3108960"/>
            <a:ext cx="200939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Guards, safe fallbacks, and tests so it runs unattended and never breaks.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27414" y="1783080"/>
            <a:ext cx="25214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83446" y="2039112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3446" y="2743200"/>
            <a:ext cx="20093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Calibri"/>
              </a:rPr>
              <a:t>Document &amp; automate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3446" y="3108960"/>
            <a:ext cx="200939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Living docs, a scheduled refresh, and observability — hand off a system, not a script.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0F2440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0A106"/>
                </a:solidFill>
                <a:latin typeface="Calibri"/>
              </a:rPr>
              <a:t>AI AGENT INFRASTRUCTURE · BOB 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</a:rPr>
              <a:t>MCP, Markdown &amp; the agent configuration layer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453384" cy="4023360"/>
          </a:xfrm>
          <a:prstGeom prst="roundRect">
            <a:avLst>
              <a:gd name="adj" fmla="val 5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3453384" cy="45720"/>
          </a:xfrm>
          <a:prstGeom prst="rect">
            <a:avLst/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E0A1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99618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Remote HTTP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299618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Both data connectors are fully-managed remote HTTP servers — no npm install, no local process to babysit. Bigdata connects automatically. FMP binds :8080 on startup.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23360"/>
            <a:ext cx="3087624" cy="594360"/>
          </a:xfrm>
          <a:prstGeom prst="roundRect">
            <a:avLst>
              <a:gd name="adj" fmla="val 4000"/>
            </a:avLst>
          </a:prstGeom>
          <a:solidFill>
            <a:srgbClr val="0A1D35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14800"/>
            <a:ext cx="2813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E0A106"/>
                </a:solidFill>
                <a:latin typeface="Calibri"/>
              </a:rPr>
              <a:t>Bigdata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2813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Calibri"/>
              </a:rPr>
              <a:t>https://mcp.bigdata.com/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54880"/>
            <a:ext cx="3087624" cy="594360"/>
          </a:xfrm>
          <a:prstGeom prst="roundRect">
            <a:avLst>
              <a:gd name="adj" fmla="val 4000"/>
            </a:avLst>
          </a:prstGeom>
          <a:solidFill>
            <a:srgbClr val="0A1D35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46320"/>
            <a:ext cx="2813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E0A106"/>
                </a:solidFill>
                <a:latin typeface="Calibri"/>
              </a:rPr>
              <a:t>FMP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2813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Calibri"/>
              </a:rPr>
              <a:t>http://localhost:8080/mcp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7784" y="1828800"/>
            <a:ext cx="3453384" cy="4023360"/>
          </a:xfrm>
          <a:prstGeom prst="roundRect">
            <a:avLst>
              <a:gd name="adj" fmla="val 5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7784" y="1828800"/>
            <a:ext cx="3453384" cy="4572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96384" y="201168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6384" y="2194560"/>
            <a:ext cx="299618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Markdown instruction files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6384" y="2651760"/>
            <a:ext cx="299618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Agent behaviour lives in plain Markdown: AGENTS.md (invariants, pipeline rules, provider constraints), daily_refresh.md (9-step playbook), and the .bob/ rules-ask layer.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50664" y="4023360"/>
            <a:ext cx="3087624" cy="594360"/>
          </a:xfrm>
          <a:prstGeom prst="roundRect">
            <a:avLst>
              <a:gd name="adj" fmla="val 4000"/>
            </a:avLst>
          </a:prstGeom>
          <a:solidFill>
            <a:srgbClr val="0A1D35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33544" y="4114800"/>
            <a:ext cx="2813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E7C86"/>
                </a:solidFill>
                <a:latin typeface="Calibri"/>
              </a:rPr>
              <a:t>AGENTS.md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3544" y="4343400"/>
            <a:ext cx="2813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Calibri"/>
              </a:rPr>
              <a:t>invariants · pipeline · data-provider rules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50664" y="4754880"/>
            <a:ext cx="3087624" cy="594360"/>
          </a:xfrm>
          <a:prstGeom prst="roundRect">
            <a:avLst>
              <a:gd name="adj" fmla="val 4000"/>
            </a:avLst>
          </a:prstGeom>
          <a:solidFill>
            <a:srgbClr val="0A1D35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3544" y="4846320"/>
            <a:ext cx="2813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E7C86"/>
                </a:solidFill>
                <a:latin typeface="Calibri"/>
              </a:rPr>
              <a:t>daily_refresh.md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3544" y="5074920"/>
            <a:ext cx="2813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Calibri"/>
              </a:rPr>
              <a:t>10-step daily playbook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5488" y="1828800"/>
            <a:ext cx="3453384" cy="4023360"/>
          </a:xfrm>
          <a:prstGeom prst="roundRect">
            <a:avLst>
              <a:gd name="adj" fmla="val 5000"/>
            </a:avLst>
          </a:prstGeom>
          <a:solidFill>
            <a:srgbClr val="14304F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5488" y="1828800"/>
            <a:ext cx="3453384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24088" y="201168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4088" y="2194560"/>
            <a:ext cx="299618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Env vars &amp; secrets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4088" y="2651760"/>
            <a:ext cx="299618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API keys never live in code. FMP_ACCESS_TOKEN and BIGDATA_API_KEY are read from .env (gitignored). mcp.json carries only the transport URL and auto-approved tool list.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8368" y="4023360"/>
            <a:ext cx="3087624" cy="594360"/>
          </a:xfrm>
          <a:prstGeom prst="roundRect">
            <a:avLst>
              <a:gd name="adj" fmla="val 4000"/>
            </a:avLst>
          </a:prstGeom>
          <a:solidFill>
            <a:srgbClr val="0A1D35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61248" y="4114800"/>
            <a:ext cx="2813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FMP_ACCESS_TOKEN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61248" y="4343400"/>
            <a:ext cx="2813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Calibri"/>
              </a:rPr>
              <a:t>.env (gitignored)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78368" y="4754880"/>
            <a:ext cx="3087624" cy="594360"/>
          </a:xfrm>
          <a:prstGeom prst="roundRect">
            <a:avLst>
              <a:gd name="adj" fmla="val 4000"/>
            </a:avLst>
          </a:prstGeom>
          <a:solidFill>
            <a:srgbClr val="0A1D35"/>
          </a:solidFill>
          <a:ln w="12700">
            <a:solidFill>
              <a:srgbClr val="1E3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1248" y="4846320"/>
            <a:ext cx="2813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BIGDATA_API_KEY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1248" y="5074920"/>
            <a:ext cx="2813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Calibri"/>
              </a:rPr>
              <a:t>.bob/mcp.json → x-api-key header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C93A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C93A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4F6F9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Calibri"/>
              </a:rPr>
              <a:t>CODE ANALYSIS · INIT &amp;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mbria"/>
              </a:rPr>
              <a:t>Understanding and evolving an existing codebase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0">
                <a:solidFill>
                  <a:srgbClr val="64748B"/>
                </a:solidFill>
                <a:latin typeface="Calibri"/>
              </a:rPr>
              <a:t>Bob 2.0 can read an entire repo on first open, reason about its structure, and guide migrations — not just write net-new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Tech Drawdown · Executive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61264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 GetSymbolsOverview and FindSymbol map every class, function, and module across the project in seconds — no manual spelunking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 FindReferencingSymbols traces all callers of any symbol, so a refactor's blast radius is known before the first edit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 Init flow: Bob reads AGENTS.md, inspects src/dash/, scripts/, tests/ and builds a mental model of the codebase before answering any question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 Migration: replace a provider, rename a constant, restructure a module — Bob proposes the diff, verifies it compiles in the stubbed-DOM harness, then ships both HTML copies in a single agent turn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828800"/>
            <a:ext cx="4557384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40880" y="1828800"/>
            <a:ext cx="4557384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1920240"/>
            <a:ext cx="41001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  <a:latin typeface="Calibri"/>
              </a:rPr>
              <a:t>Init  ·  first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2860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5B6"/>
                </a:solidFill>
                <a:latin typeface="Calibri"/>
              </a:rPr>
              <a:t>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286000"/>
            <a:ext cx="3322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AGENTS.md + TASKS.md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6517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5B6"/>
                </a:solidFill>
                <a:latin typeface="Calibri"/>
              </a:rPr>
              <a:t>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651760"/>
            <a:ext cx="3322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src/dash/ · scripts/ · tests/ · data/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017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5B6"/>
                </a:solidFill>
                <a:latin typeface="Calibri"/>
              </a:rPr>
              <a:t>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017520"/>
            <a:ext cx="3322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golden-master + test suite 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3832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5B6"/>
                </a:solidFill>
                <a:latin typeface="Calibri"/>
              </a:rPr>
              <a:t>Ready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383280"/>
            <a:ext cx="3322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can answer any question about the codebase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4023360"/>
            <a:ext cx="4557384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40880" y="4023360"/>
            <a:ext cx="4557384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4114800"/>
            <a:ext cx="41001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Migration  ·  provider swap example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480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Identify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480560"/>
            <a:ext cx="3322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FindReferencingSymbols on the old provider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48463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Diff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846320"/>
            <a:ext cx="3322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propose targeted apply_diff per 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52120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5212080"/>
            <a:ext cx="3322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node --test + pytest in the same 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577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Deploy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5577840"/>
            <a:ext cx="3322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Calibri"/>
              </a:rPr>
              <a:t>assemble + inject + write both HTML copies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0F2440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23317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" y="23317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E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08176" y="23317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E24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From spreadsheet to self-updating system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E0A106"/>
                </a:solidFill>
                <a:latin typeface="Cambria"/>
              </a:rPr>
              <a:t>conversationally.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Tech Drawdown · Version 1.0 · Rules-based analytics, not financial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