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igs" ContentType="application/vnd.openxmlformats-package.digital-signature-origin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xmlsignatures/sig1.xml" ContentType="application/vnd.openxmlformats-package.digital-signature-xmlsignatur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package/2006/relationships/digital-signature/origin" Target="_xmlsignatures/origin.sigs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1"/>
    <p:sldMasterId id="2147483660" r:id="rId2"/>
  </p:sldMasterIdLst>
  <p:sldIdLst>
    <p:sldId id="285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95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621" y="2130426"/>
            <a:ext cx="7770376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243" y="3886200"/>
            <a:ext cx="6399133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0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1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2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5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1110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7207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125" y="4406901"/>
            <a:ext cx="7770376" cy="1362075"/>
          </a:xfrm>
        </p:spPr>
        <p:txBody>
          <a:bodyPr anchor="t"/>
          <a:lstStyle>
            <a:lvl1pPr algn="l">
              <a:defRPr sz="3999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125" y="2906713"/>
            <a:ext cx="7770376" cy="1500187"/>
          </a:xfrm>
        </p:spPr>
        <p:txBody>
          <a:bodyPr anchor="b"/>
          <a:lstStyle>
            <a:lvl1pPr marL="0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7157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081" y="1600201"/>
            <a:ext cx="4037548" cy="4525963"/>
          </a:xfrm>
        </p:spPr>
        <p:txBody>
          <a:bodyPr/>
          <a:lstStyle>
            <a:lvl1pPr>
              <a:defRPr sz="2799"/>
            </a:lvl1pPr>
            <a:lvl2pPr>
              <a:defRPr sz="2399"/>
            </a:lvl2pPr>
            <a:lvl3pPr>
              <a:defRPr sz="1999"/>
            </a:lvl3pPr>
            <a:lvl4pPr>
              <a:defRPr sz="1799"/>
            </a:lvl4pPr>
            <a:lvl5pPr>
              <a:defRPr sz="1799"/>
            </a:lvl5pPr>
            <a:lvl6pPr>
              <a:defRPr sz="1799"/>
            </a:lvl6pPr>
            <a:lvl7pPr>
              <a:defRPr sz="1799"/>
            </a:lvl7pPr>
            <a:lvl8pPr>
              <a:defRPr sz="1799"/>
            </a:lvl8pPr>
            <a:lvl9pPr>
              <a:defRPr sz="179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990" y="1600201"/>
            <a:ext cx="4037548" cy="4525963"/>
          </a:xfrm>
        </p:spPr>
        <p:txBody>
          <a:bodyPr/>
          <a:lstStyle>
            <a:lvl1pPr>
              <a:defRPr sz="2799"/>
            </a:lvl1pPr>
            <a:lvl2pPr>
              <a:defRPr sz="2399"/>
            </a:lvl2pPr>
            <a:lvl3pPr>
              <a:defRPr sz="1999"/>
            </a:lvl3pPr>
            <a:lvl4pPr>
              <a:defRPr sz="1799"/>
            </a:lvl4pPr>
            <a:lvl5pPr>
              <a:defRPr sz="1799"/>
            </a:lvl5pPr>
            <a:lvl6pPr>
              <a:defRPr sz="1799"/>
            </a:lvl6pPr>
            <a:lvl7pPr>
              <a:defRPr sz="1799"/>
            </a:lvl7pPr>
            <a:lvl8pPr>
              <a:defRPr sz="1799"/>
            </a:lvl8pPr>
            <a:lvl9pPr>
              <a:defRPr sz="179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9370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081" y="1535113"/>
            <a:ext cx="4039136" cy="639762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081" y="2174875"/>
            <a:ext cx="4039136" cy="3951288"/>
          </a:xfrm>
        </p:spPr>
        <p:txBody>
          <a:bodyPr/>
          <a:lstStyle>
            <a:lvl1pPr>
              <a:defRPr sz="2399"/>
            </a:lvl1pPr>
            <a:lvl2pPr>
              <a:defRPr sz="1999"/>
            </a:lvl2pPr>
            <a:lvl3pPr>
              <a:defRPr sz="1799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3816" y="1535113"/>
            <a:ext cx="4040722" cy="639762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3816" y="2174875"/>
            <a:ext cx="4040722" cy="3951288"/>
          </a:xfrm>
        </p:spPr>
        <p:txBody>
          <a:bodyPr/>
          <a:lstStyle>
            <a:lvl1pPr>
              <a:defRPr sz="2399"/>
            </a:lvl1pPr>
            <a:lvl2pPr>
              <a:defRPr sz="1999"/>
            </a:lvl2pPr>
            <a:lvl3pPr>
              <a:defRPr sz="1799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1750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131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3559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081" y="273050"/>
            <a:ext cx="3007530" cy="1162050"/>
          </a:xfrm>
        </p:spPr>
        <p:txBody>
          <a:bodyPr anchor="b"/>
          <a:lstStyle>
            <a:lvl1pPr algn="l">
              <a:defRPr sz="1999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4119" y="273051"/>
            <a:ext cx="5110419" cy="5853113"/>
          </a:xfrm>
        </p:spPr>
        <p:txBody>
          <a:bodyPr/>
          <a:lstStyle>
            <a:lvl1pPr>
              <a:defRPr sz="3199"/>
            </a:lvl1pPr>
            <a:lvl2pPr>
              <a:defRPr sz="2799"/>
            </a:lvl2pPr>
            <a:lvl3pPr>
              <a:defRPr sz="2399"/>
            </a:lvl3pPr>
            <a:lvl4pPr>
              <a:defRPr sz="1999"/>
            </a:lvl4pPr>
            <a:lvl5pPr>
              <a:defRPr sz="1999"/>
            </a:lvl5pPr>
            <a:lvl6pPr>
              <a:defRPr sz="1999"/>
            </a:lvl6pPr>
            <a:lvl7pPr>
              <a:defRPr sz="1999"/>
            </a:lvl7pPr>
            <a:lvl8pPr>
              <a:defRPr sz="1999"/>
            </a:lvl8pPr>
            <a:lvl9pPr>
              <a:defRPr sz="199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081" y="1435101"/>
            <a:ext cx="3007530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141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1821" y="4800600"/>
            <a:ext cx="5484971" cy="566738"/>
          </a:xfrm>
        </p:spPr>
        <p:txBody>
          <a:bodyPr anchor="b"/>
          <a:lstStyle>
            <a:lvl1pPr algn="l">
              <a:defRPr sz="1999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1821" y="612775"/>
            <a:ext cx="5484971" cy="4114800"/>
          </a:xfrm>
        </p:spPr>
        <p:txBody>
          <a:bodyPr/>
          <a:lstStyle>
            <a:lvl1pPr marL="0" indent="0">
              <a:buNone/>
              <a:defRPr sz="3199"/>
            </a:lvl1pPr>
            <a:lvl2pPr marL="457063" indent="0">
              <a:buNone/>
              <a:defRPr sz="2799"/>
            </a:lvl2pPr>
            <a:lvl3pPr marL="914126" indent="0">
              <a:buNone/>
              <a:defRPr sz="2399"/>
            </a:lvl3pPr>
            <a:lvl4pPr marL="1371189" indent="0">
              <a:buNone/>
              <a:defRPr sz="1999"/>
            </a:lvl4pPr>
            <a:lvl5pPr marL="1828251" indent="0">
              <a:buNone/>
              <a:defRPr sz="1999"/>
            </a:lvl5pPr>
            <a:lvl6pPr marL="2285314" indent="0">
              <a:buNone/>
              <a:defRPr sz="1999"/>
            </a:lvl6pPr>
            <a:lvl7pPr marL="2742377" indent="0">
              <a:buNone/>
              <a:defRPr sz="1999"/>
            </a:lvl7pPr>
            <a:lvl8pPr marL="3199440" indent="0">
              <a:buNone/>
              <a:defRPr sz="1999"/>
            </a:lvl8pPr>
            <a:lvl9pPr marL="3656503" indent="0">
              <a:buNone/>
              <a:defRPr sz="1999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1821" y="5367338"/>
            <a:ext cx="5484971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01423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54091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7674" y="274639"/>
            <a:ext cx="2056864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081" y="274639"/>
            <a:ext cx="6018232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49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081" y="274638"/>
            <a:ext cx="822745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081" y="1600201"/>
            <a:ext cx="8227457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081" y="6356351"/>
            <a:ext cx="21330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3386" y="6356351"/>
            <a:ext cx="28948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1494" y="6356351"/>
            <a:ext cx="21330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235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063" rtl="0" eaLnBrk="1" latinLnBrk="0" hangingPunct="1"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797" indent="-342797" algn="l" defTabSz="457063" rtl="0" eaLnBrk="1" latinLnBrk="0" hangingPunct="1">
        <a:spcBef>
          <a:spcPct val="20000"/>
        </a:spcBef>
        <a:buFont typeface="Arial"/>
        <a:buChar char="•"/>
        <a:defRPr sz="3199" kern="1200">
          <a:solidFill>
            <a:schemeClr val="tx1"/>
          </a:solidFill>
          <a:latin typeface="+mn-lt"/>
          <a:ea typeface="+mn-ea"/>
          <a:cs typeface="+mn-cs"/>
        </a:defRPr>
      </a:lvl1pPr>
      <a:lvl2pPr marL="742727" indent="-285664" algn="l" defTabSz="457063" rtl="0" eaLnBrk="1" latinLnBrk="0" hangingPunct="1">
        <a:spcBef>
          <a:spcPct val="20000"/>
        </a:spcBef>
        <a:buFont typeface="Arial"/>
        <a:buChar char="–"/>
        <a:defRPr sz="27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457063" rtl="0" eaLnBrk="1" latinLnBrk="0" hangingPunct="1">
        <a:spcBef>
          <a:spcPct val="20000"/>
        </a:spcBef>
        <a:buFont typeface="Arial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457063" rtl="0" eaLnBrk="1" latinLnBrk="0" hangingPunct="1">
        <a:spcBef>
          <a:spcPct val="20000"/>
        </a:spcBef>
        <a:buFont typeface="Arial"/>
        <a:buChar char="–"/>
        <a:defRPr sz="19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457063" rtl="0" eaLnBrk="1" latinLnBrk="0" hangingPunct="1">
        <a:spcBef>
          <a:spcPct val="20000"/>
        </a:spcBef>
        <a:buFont typeface="Arial"/>
        <a:buChar char="»"/>
        <a:defRPr sz="19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457063" rtl="0" eaLnBrk="1" latinLnBrk="0" hangingPunct="1">
        <a:spcBef>
          <a:spcPct val="20000"/>
        </a:spcBef>
        <a:buFont typeface="Arial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457063" rtl="0" eaLnBrk="1" latinLnBrk="0" hangingPunct="1">
        <a:spcBef>
          <a:spcPct val="20000"/>
        </a:spcBef>
        <a:buFont typeface="Arial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457063" rtl="0" eaLnBrk="1" latinLnBrk="0" hangingPunct="1">
        <a:spcBef>
          <a:spcPct val="20000"/>
        </a:spcBef>
        <a:buFont typeface="Arial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457063" rtl="0" eaLnBrk="1" latinLnBrk="0" hangingPunct="1">
        <a:spcBef>
          <a:spcPct val="20000"/>
        </a:spcBef>
        <a:buFont typeface="Arial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196" y="1554968"/>
            <a:ext cx="8227457" cy="1846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457063"/>
            <a:r>
              <a:rPr sz="1200" b="1">
                <a:solidFill>
                  <a:srgbClr val="E0A106"/>
                </a:solidFill>
                <a:latin typeface="Calibri"/>
              </a:rPr>
              <a:t>EXECUTIVE SUMMARY  ·  AUGUST 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39913" y="2149173"/>
            <a:ext cx="310815" cy="310815"/>
          </a:xfrm>
          <a:prstGeom prst="roundRect">
            <a:avLst>
              <a:gd name="adj" fmla="val 20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023860" y="2149173"/>
            <a:ext cx="310815" cy="310815"/>
          </a:xfrm>
          <a:prstGeom prst="roundRect">
            <a:avLst>
              <a:gd name="adj" fmla="val 20000"/>
            </a:avLst>
          </a:prstGeom>
          <a:solidFill>
            <a:srgbClr val="E0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407809" y="2149173"/>
            <a:ext cx="310815" cy="310815"/>
          </a:xfrm>
          <a:prstGeom prst="roundRect">
            <a:avLst>
              <a:gd name="adj" fmla="val 20000"/>
            </a:avLst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3346" y="2514838"/>
            <a:ext cx="10512862" cy="83046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457063"/>
            <a:r>
              <a:rPr sz="5398" b="1">
                <a:solidFill>
                  <a:srgbClr val="FFFFFF"/>
                </a:solidFill>
                <a:latin typeface="Cambria"/>
              </a:rPr>
              <a:t>Tech Drawdown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196" y="3703249"/>
            <a:ext cx="9690116" cy="6294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457063">
              <a:lnSpc>
                <a:spcPct val="125000"/>
              </a:lnSpc>
            </a:pPr>
            <a:r>
              <a:rPr sz="1699">
                <a:solidFill>
                  <a:srgbClr val="CBD5E1"/>
                </a:solidFill>
                <a:latin typeface="Calibri"/>
              </a:rPr>
              <a:t>A live market-drawdown dashboard, private-portfolio tracker, retirement planner and equity-valuation workbench — designed, built, tested and documented through conversation with IBM Bob.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196" y="4891659"/>
            <a:ext cx="2011156" cy="10969"/>
          </a:xfrm>
          <a:prstGeom prst="rect">
            <a:avLst/>
          </a:prstGeom>
          <a:solidFill>
            <a:srgbClr val="E0A1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58196" y="5083146"/>
            <a:ext cx="10055781" cy="1923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457063"/>
            <a:r>
              <a:rPr sz="1250" dirty="0">
                <a:solidFill>
                  <a:srgbClr val="CBD5E1"/>
                </a:solidFill>
                <a:latin typeface="Calibri"/>
              </a:rPr>
              <a:t>One self-contained </a:t>
            </a:r>
            <a:r>
              <a:rPr lang="en-US" sz="1250" dirty="0">
                <a:solidFill>
                  <a:srgbClr val="CBD5E1"/>
                </a:solidFill>
                <a:latin typeface="Calibri"/>
              </a:rPr>
              <a:t>Dashboard</a:t>
            </a:r>
            <a:r>
              <a:rPr sz="1250" dirty="0">
                <a:solidFill>
                  <a:srgbClr val="CBD5E1"/>
                </a:solidFill>
                <a:latin typeface="Calibri"/>
              </a:rPr>
              <a:t>  ·  ~1,100 securities  ·  zero-touch daily refresh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196" y="6262902"/>
            <a:ext cx="7313295" cy="1615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457063"/>
            <a:r>
              <a:rPr sz="1050">
                <a:solidFill>
                  <a:srgbClr val="64748B"/>
                </a:solidFill>
                <a:latin typeface="Calibri"/>
              </a:rPr>
              <a:t>Rules-based analytics — not financial advice.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56B520-5E1B-3956-E979-F06A933AC113}"/>
              </a:ext>
            </a:extLst>
          </p:cNvPr>
          <p:cNvSpPr txBox="1"/>
          <p:nvPr/>
        </p:nvSpPr>
        <p:spPr>
          <a:xfrm>
            <a:off x="9515475" y="5338486"/>
            <a:ext cx="2533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Sailaja Pudota</a:t>
            </a:r>
          </a:p>
          <a:p>
            <a:r>
              <a:rPr lang="en-US" dirty="0">
                <a:solidFill>
                  <a:schemeClr val="bg1"/>
                </a:solidFill>
              </a:rPr>
              <a:t>Sunil Pothakamuri</a:t>
            </a:r>
          </a:p>
          <a:p>
            <a:r>
              <a:rPr lang="en-US" dirty="0">
                <a:solidFill>
                  <a:schemeClr val="bg1"/>
                </a:solidFill>
              </a:rPr>
              <a:t>Suresh Pudota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WHY THIS MATTERS FOR AI ADOPTION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Cambria"/>
              </a:rPr>
              <a:t>One real, production-grade application — built end to end in conversation.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3453384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904744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>
                <a:solidFill>
                  <a:srgbClr val="2E75B6"/>
                </a:solidFill>
                <a:latin typeface="Cambria"/>
              </a:rPr>
              <a:t>~1,100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46120"/>
            <a:ext cx="2904744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64748B"/>
                </a:solidFill>
                <a:latin typeface="Calibri"/>
              </a:rPr>
              <a:t>securities monitored across six market universes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7784" y="1965960"/>
            <a:ext cx="3453384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42104" y="2286000"/>
            <a:ext cx="2904744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>
                <a:solidFill>
                  <a:srgbClr val="1D9E75"/>
                </a:solidFill>
                <a:latin typeface="Cambria"/>
              </a:rPr>
              <a:t>Zero-touch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2104" y="3246120"/>
            <a:ext cx="2904744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64748B"/>
                </a:solidFill>
                <a:latin typeface="Calibri"/>
              </a:rPr>
              <a:t>daily refresh — fully unattended automation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5488" y="1965960"/>
            <a:ext cx="3453384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69808" y="2286000"/>
            <a:ext cx="2904744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>
                <a:solidFill>
                  <a:srgbClr val="E0A106"/>
                </a:solidFill>
                <a:latin typeface="Cambria"/>
              </a:rPr>
              <a:t>1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9808" y="3246120"/>
            <a:ext cx="2904744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64748B"/>
                </a:solidFill>
                <a:latin typeface="Calibri"/>
              </a:rPr>
              <a:t>self-contained web page; opens anywhere, nothing to install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1090879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No dev team spun up. No infrastructure stood up. A spreadsheet-and-manual-lookup problem became a self-updating system — the same pattern you can bring to client workflows.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24B4A"/>
                </a:solidFill>
                <a:latin typeface="Calibri"/>
              </a:rPr>
              <a:t>THE PROBLEM IT REPLACES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Spreadsheets couldn't keep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453384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96112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743200"/>
            <a:ext cx="2941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Stale, error-prone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08960"/>
            <a:ext cx="2941320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Values and drawdowns were only as fresh as the last manual refresh; off-index holdings were mis-valued from outdated figures.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7784" y="1783080"/>
            <a:ext cx="3453384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623816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23816" y="2743200"/>
            <a:ext cx="2941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No single 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3816" y="3108960"/>
            <a:ext cx="2941320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Market context, personal holdings, and retirement projections lived in separate files — hard to see the whole picture or act quickly.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783080"/>
            <a:ext cx="3453384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351520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51520" y="2743200"/>
            <a:ext cx="2941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High manual effort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1520" y="3108960"/>
            <a:ext cx="2941320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Keeping everything current consumed hours every week and was easy to forget or get wrong.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2920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Cambria"/>
              </a:rPr>
              <a:t>Hours of upkeep,</a:t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Cambria"/>
              </a:rPr>
              <a:t>every week.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760720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Manual, fragmented, and always a little out of date.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D9E75"/>
                </a:solidFill>
                <a:latin typeface="Calibr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One always-current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85216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A single, self-updating web page that unifies three things at a glance: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Which stocks and funds are in a drawdown — and how deep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What every holding is worth at today's live prices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Whether the household is on track for retirement income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64748B"/>
                </a:solidFill>
                <a:latin typeface="Calibri"/>
              </a:rPr>
              <a:t>…and now: how it performs against the market, what changed overnight, and what it will pay in dividends.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828800"/>
            <a:ext cx="22860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150608" y="204825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0" y="2651760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1">
                <a:solidFill>
                  <a:srgbClr val="1F2937"/>
                </a:solidFill>
                <a:latin typeface="Calibri"/>
              </a:rPr>
              <a:t>Market drawdown &amp; trend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1828800"/>
            <a:ext cx="22860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619488" y="204825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0" y="2651760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1">
                <a:solidFill>
                  <a:srgbClr val="1F2937"/>
                </a:solidFill>
                <a:latin typeface="Calibri"/>
              </a:rPr>
              <a:t>Live private portfolios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3246120"/>
            <a:ext cx="22860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150608" y="346557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E0A1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0" y="4069080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1">
                <a:solidFill>
                  <a:srgbClr val="1F2937"/>
                </a:solidFill>
                <a:latin typeface="Calibri"/>
              </a:rPr>
              <a:t>Retirement &amp; income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0" y="3246120"/>
            <a:ext cx="22860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619488" y="346557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0" y="4069080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1">
                <a:solidFill>
                  <a:srgbClr val="1F2937"/>
                </a:solidFill>
                <a:latin typeface="Calibri"/>
              </a:rPr>
              <a:t>Fundamentals + factsheet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What it delivers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908792" cy="131673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08792" cy="131673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4233672"/>
            <a:ext cx="10908792" cy="131673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5550408"/>
            <a:ext cx="10908792" cy="6583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737360"/>
            <a:ext cx="2468880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Calibri"/>
              </a:rPr>
              <a:t>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737360"/>
            <a:ext cx="7982712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1F2937"/>
                </a:solidFill>
                <a:latin typeface="Calibri"/>
              </a:rPr>
              <a:t>~1,100 securities — S&amp;P 500, Nasdaq-100, Dow, Top-100 ETFs, Thematic ETFs, Mutual Funds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95728"/>
            <a:ext cx="2468880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Calibri"/>
              </a:rPr>
              <a:t>Private 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395728"/>
            <a:ext cx="7982712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1F2937"/>
                </a:solidFill>
                <a:latin typeface="Calibri"/>
              </a:rPr>
              <a:t>IRA (income focus) + Brokerage (growth focus) + a household retirement planner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54096"/>
            <a:ext cx="2468880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Calibri"/>
              </a:rPr>
              <a:t>Refresh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054096"/>
            <a:ext cx="7982712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1F2937"/>
                </a:solidFill>
                <a:latin typeface="Calibri"/>
              </a:rPr>
              <a:t>Automatic daily at 9am, plus an on-demand 'Load live prices' button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12464"/>
            <a:ext cx="2468880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Calibri"/>
              </a:rPr>
              <a:t>History &amp; income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712464"/>
            <a:ext cx="7982712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1F2937"/>
                </a:solidFill>
                <a:latin typeface="Calibri"/>
              </a:rPr>
              <a:t>Rolling daily value history → benchmark vs Dow/Nasdaq/S&amp;P, drawdown timeline, change alerts, and a forward 12-month dividend 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370832"/>
            <a:ext cx="2468880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Calibri"/>
              </a:rPr>
              <a:t>Delivery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370832"/>
            <a:ext cx="7982712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1F2937"/>
                </a:solidFill>
                <a:latin typeface="Calibri"/>
              </a:rPr>
              <a:t>Single self-contained web page — opens in any browser, works offline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2468880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Calibri"/>
              </a:rPr>
              <a:t>Data privacy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5029200"/>
            <a:ext cx="7982712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1F2937"/>
                </a:solidFill>
                <a:latin typeface="Calibri"/>
              </a:rPr>
              <a:t>Holdings stay local; only ticker symbols are sent, only for public market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687568"/>
            <a:ext cx="2468880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Calibri"/>
              </a:rPr>
              <a:t>Reliability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5687568"/>
            <a:ext cx="7982712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1F2937"/>
                </a:solidFill>
                <a:latin typeface="Calibri"/>
              </a:rPr>
              <a:t>Integrity-gated automation — always falls back to the last good state, never blanks a holding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D9E75"/>
                </a:solidFill>
                <a:latin typeface="Calibri"/>
              </a:rPr>
              <a:t>FEATURE · MARKET-CONTEXT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A health spectrum,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50" b="0">
                <a:solidFill>
                  <a:srgbClr val="64748B"/>
                </a:solidFill>
                <a:latin typeface="Calibri"/>
              </a:rPr>
              <a:t>The whole universe, de-duplicated and sorted into three color-coded columns — every ticker tagged with the index it belongs 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342900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3429000" cy="548640"/>
          </a:xfrm>
          <a:prstGeom prst="rect">
            <a:avLst/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Best performing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803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MRNA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907792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S&amp;P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264408"/>
            <a:ext cx="2651760" cy="82296"/>
          </a:xfrm>
          <a:prstGeom prst="rect">
            <a:avLst/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538728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WCBR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56616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THM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922776"/>
            <a:ext cx="1909267" cy="82296"/>
          </a:xfrm>
          <a:prstGeom prst="rect">
            <a:avLst/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197096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224528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ETF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581144"/>
            <a:ext cx="1166774" cy="82296"/>
          </a:xfrm>
          <a:prstGeom prst="rect">
            <a:avLst/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Calibri"/>
              </a:rPr>
              <a:t>+ top-10 · click any ticker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2103120"/>
            <a:ext cx="342900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43400" y="2103120"/>
            <a:ext cx="3429000" cy="548640"/>
          </a:xfrm>
          <a:prstGeom prst="rect">
            <a:avLst/>
          </a:prstGeom>
          <a:solidFill>
            <a:srgbClr val="E0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26280" y="21945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In correction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28803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MU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907792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S&amp;P·NDX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3264408"/>
            <a:ext cx="2651760" cy="82296"/>
          </a:xfrm>
          <a:prstGeom prst="rect">
            <a:avLst/>
          </a:prstGeom>
          <a:solidFill>
            <a:srgbClr val="E0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17720" y="3538728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MCD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356616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S&amp;P·DOW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17720" y="3922776"/>
            <a:ext cx="1909267" cy="82296"/>
          </a:xfrm>
          <a:prstGeom prst="rect">
            <a:avLst/>
          </a:prstGeom>
          <a:solidFill>
            <a:srgbClr val="E0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17720" y="4197096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PBW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4224528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THM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17720" y="4581144"/>
            <a:ext cx="1166774" cy="82296"/>
          </a:xfrm>
          <a:prstGeom prst="rect">
            <a:avLst/>
          </a:prstGeom>
          <a:solidFill>
            <a:srgbClr val="E0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17720" y="52578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Calibri"/>
              </a:rPr>
              <a:t>+ top-10 · click any ticker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2103120"/>
            <a:ext cx="342900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046720" y="2103120"/>
            <a:ext cx="3429000" cy="548640"/>
          </a:xfrm>
          <a:prstGeom prst="rect">
            <a:avLst/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600" y="21945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Worst drawdown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8803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TTD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2907792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S&amp;P·NDX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21040" y="3264408"/>
            <a:ext cx="2651760" cy="82296"/>
          </a:xfrm>
          <a:prstGeom prst="rect">
            <a:avLst/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21040" y="3538728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FISV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356616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S&amp;P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21040" y="3922776"/>
            <a:ext cx="1909267" cy="82296"/>
          </a:xfrm>
          <a:prstGeom prst="rect">
            <a:avLst/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321040" y="4197096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MSTR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18320" y="4224528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NDX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21040" y="4581144"/>
            <a:ext cx="1166774" cy="82296"/>
          </a:xfrm>
          <a:prstGeom prst="rect">
            <a:avLst/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321040" y="52578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Calibri"/>
              </a:rPr>
              <a:t>+ top-10 · click any ticker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FEATURE · MARKET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One-year charts — indices &amp; macro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96112" y="199339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697480"/>
            <a:ext cx="488289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US indices · 1-year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063240"/>
            <a:ext cx="4882896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Own-scale sparklines for the Dow, Nasdaq, S&amp;P 500 and Russell 2000 — read each index directly, not rescaled against the others. Built once, embedded, no runtime calls.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7373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65392" y="199339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E0A1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65392" y="2697480"/>
            <a:ext cx="488289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Macro &amp; commodities · 1-year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3063240"/>
            <a:ext cx="4882896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Oil, gold, silver, copper, rare earths (ETF proxy), the US dollar vs four major currencies, and consumer sentiment — the wider backdrop behind the portfolio, in one card. Any series the data plan gates is simply omitted; the card shows the rest.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D9E75"/>
                </a:solidFill>
                <a:latin typeface="Calibri"/>
              </a:rPr>
              <a:t>FEATURE · PRIVATE PORTFOLIOS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Your holdings, valued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12648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Market value = quantity × today's live price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IRA (income) and Brokerage (growth) tabs, each with allocation and gain/loss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 guarded pricing rule rejects a corrupt quote and falls back safely — one bad number can never mis-state the portfolio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Off-index holdings priced individually, so nothing is valued from a stale figure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828800"/>
            <a:ext cx="4114800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680960" y="2057400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80960" y="2761488"/>
            <a:ext cx="35661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Edit a flat export — the next run re-imports it and prices new names automatically.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29200"/>
            <a:ext cx="6126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Calibri"/>
              </a:rPr>
              <a:t>Holdings never leave the machine. Only ticker symbols go out.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FEATURE · RETIREMENT &amp; INCOME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Planned to a retirement 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45338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96112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E0A1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743200"/>
            <a:ext cx="2941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Two-account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08960"/>
            <a:ext cx="294132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IRA modeled for income, Brokerage for growth — roles baked into the projection.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7784" y="1783080"/>
            <a:ext cx="345338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623816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E0A1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23816" y="2743200"/>
            <a:ext cx="2941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Projections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3816" y="3108960"/>
            <a:ext cx="294132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Household balances and sustainable income projected to your target 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783080"/>
            <a:ext cx="345338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351520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E0A1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51520" y="2743200"/>
            <a:ext cx="2941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Rebalance targets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1520" y="3108960"/>
            <a:ext cx="294132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See current plan vs. a rebalance plan, with the difference called 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E7C86"/>
                </a:solidFill>
                <a:latin typeface="Calibri"/>
              </a:rPr>
              <a:t>FEATURE · INCOME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What will it pay me, and when?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50" b="0">
                <a:solidFill>
                  <a:srgbClr val="64748B"/>
                </a:solidFill>
                <a:latin typeface="Calibri"/>
              </a:rPr>
              <a:t>A forward 12-month dividend calendar across every holding — the question an income portfolio exists to answer.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612648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Projected annual income, forward yield on market value, and income due in the next 30 days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 month-by-month chart split by account — IRA (income engine) vs Brokerage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An upcoming-payments list with exact ex-dividend, record and pay dates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14800"/>
            <a:ext cx="612648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4251960"/>
            <a:ext cx="56692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E7C86"/>
                </a:solidFill>
                <a:latin typeface="Calibri"/>
              </a:rPr>
              <a:t>Honest by design.  </a:t>
            </a:r>
            <a:r>
              <a:rPr sz="1200" b="0">
                <a:solidFill>
                  <a:srgbClr val="1F2937"/>
                </a:solidFill>
                <a:latin typeface="Calibri"/>
              </a:rPr>
              <a:t>Declared payments show an exact date and render green. Where the data plan gates per-symbol dates (ETFs and funds), income is estimated from yield × value, placed at month level, and labelled </a:t>
            </a:r>
            <a:r>
              <a:rPr sz="1200" b="1">
                <a:solidFill>
                  <a:srgbClr val="1F2937"/>
                </a:solidFill>
                <a:latin typeface="Calibri"/>
              </a:rPr>
              <a:t>estimated</a:t>
            </a:r>
            <a:r>
              <a:rPr sz="1200" b="0">
                <a:solidFill>
                  <a:srgbClr val="1F2937"/>
                </a:solidFill>
                <a:latin typeface="Calibri"/>
              </a:rPr>
              <a:t> — never silently faked.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2103120"/>
            <a:ext cx="411480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0" y="2331720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Dividend income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97480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Calibri"/>
              </a:rPr>
              <a:t>Projected next 12 months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0" y="3945636"/>
            <a:ext cx="274320" cy="35204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82712" y="3875228"/>
            <a:ext cx="274320" cy="42245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84464" y="3342132"/>
            <a:ext cx="274320" cy="9555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586216" y="3915461"/>
            <a:ext cx="274320" cy="382219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887968" y="3895344"/>
            <a:ext cx="274320" cy="402336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189720" y="3372308"/>
            <a:ext cx="274320" cy="9253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491472" y="3935578"/>
            <a:ext cx="274320" cy="36210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793224" y="3855111"/>
            <a:ext cx="274320" cy="442569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0094976" y="3392424"/>
            <a:ext cx="274320" cy="9052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396728" y="3955695"/>
            <a:ext cx="274320" cy="34198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698480" y="3885286"/>
            <a:ext cx="274320" cy="41239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1000232" y="3412541"/>
            <a:ext cx="274320" cy="885139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680960" y="438912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alibri"/>
              </a:rPr>
              <a:t>quarter-end months stack on the monthly ETFs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80960" y="4754880"/>
            <a:ext cx="3566160" cy="274320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818120" y="4772000"/>
            <a:ext cx="3383280" cy="2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D9E75"/>
                </a:solidFill>
                <a:latin typeface="Calibri"/>
              </a:rPr>
              <a:t>declared</a:t>
            </a:r>
            <a:r>
              <a:rPr sz="950" b="0">
                <a:solidFill>
                  <a:srgbClr val="64748B"/>
                </a:solidFill>
                <a:latin typeface="Calibri"/>
              </a:rPr>
              <a:t>  ·  exact date    </a:t>
            </a:r>
            <a:r>
              <a:rPr sz="950" b="1">
                <a:solidFill>
                  <a:srgbClr val="E0A93B"/>
                </a:solidFill>
                <a:latin typeface="Calibri"/>
              </a:rPr>
              <a:t>estimated</a:t>
            </a:r>
            <a:r>
              <a:rPr sz="950" b="0">
                <a:solidFill>
                  <a:srgbClr val="64748B"/>
                </a:solidFill>
                <a:latin typeface="Calibri"/>
              </a:rPr>
              <a:t>  ·  month level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  <a:latin typeface="Calibri"/>
              </a:rPr>
              <a:t>FEATURE ·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Am I beating the market?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50" b="0">
                <a:solidFill>
                  <a:srgbClr val="64748B"/>
                </a:solidFill>
                <a:latin typeface="Calibri"/>
              </a:rPr>
              <a:t>A rolling daily history turned a point-in-time snapshot into something that can answer 'versus what?' and 'since when?'.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31723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96112" y="235915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3063240"/>
            <a:ext cx="48051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Portfolio vs the market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429000"/>
            <a:ext cx="4805172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Household value indexed to 100 against the Dow, Nasdaq and S&amp;P 500, with a live alpha readout. No fabricated back-cast — the comparison accrues honestly from the day it was switched 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2103120"/>
            <a:ext cx="531723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87668" y="235915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87668" y="3063240"/>
            <a:ext cx="48051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Drawdown timeline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7668" y="3429000"/>
            <a:ext cx="4805172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An underwater chart: how far the portfolio and each index sit below their own running peak over the past year, with the Correction (−10%) and Bear (−20%) bands shaded.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0A93B"/>
                </a:solidFill>
                <a:latin typeface="Calibri"/>
              </a:rPr>
              <a:t>FEATURE · SIGNAL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What changed since yesterday?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50" b="0">
                <a:solidFill>
                  <a:srgbClr val="64748B"/>
                </a:solidFill>
                <a:latin typeface="Calibri"/>
              </a:rPr>
              <a:t>Stop re-scanning the whole board every morning to find the two things that moved.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612648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 daily diff of held names: entered Bear or Correction, Golden or Death Cross, recovered, or hit a new 52-week low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Shown as a colour-coded icon beside the ticker — click it for the from→to detail and history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Listed in the automated run report, so the change is in the record too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206240"/>
            <a:ext cx="612648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4343400"/>
            <a:ext cx="56692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0A93B"/>
                </a:solidFill>
                <a:latin typeface="Calibri"/>
              </a:rPr>
              <a:t>Zero new data calls.  </a:t>
            </a:r>
            <a:r>
              <a:rPr sz="1200" b="0">
                <a:solidFill>
                  <a:srgbClr val="1F2937"/>
                </a:solidFill>
                <a:latin typeface="Calibri"/>
              </a:rPr>
              <a:t>Every field it needs is already on hand. And it is guarded by the integrity check — a corrupt price can never fabricate a Death Cross. An alert system that cries wolf once is worse than none at all.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2103120"/>
            <a:ext cx="411480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0" y="2331720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Calibri"/>
              </a:rPr>
              <a:t>Changes since yesterday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283485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09560" y="2789136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1">
                <a:solidFill>
                  <a:srgbClr val="1F2937"/>
                </a:solidFill>
                <a:latin typeface="Calibri"/>
              </a:rPr>
              <a:t>SNOW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2789136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Golden Cross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330120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09560" y="3255480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1">
                <a:solidFill>
                  <a:srgbClr val="1F2937"/>
                </a:solidFill>
                <a:latin typeface="Calibri"/>
              </a:rPr>
              <a:t>NVO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325548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Death Cross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376754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3721824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1">
                <a:solidFill>
                  <a:srgbClr val="1F2937"/>
                </a:solidFill>
                <a:latin typeface="Calibri"/>
              </a:rPr>
              <a:t>ACHR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3721824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Death Cross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0" y="423388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E0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09560" y="4188168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1">
                <a:solidFill>
                  <a:srgbClr val="1F2937"/>
                </a:solidFill>
                <a:latin typeface="Calibri"/>
              </a:rPr>
              <a:t>ASML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4188168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entered Correction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70023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09560" y="4654512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1">
                <a:solidFill>
                  <a:srgbClr val="1F2937"/>
                </a:solidFill>
                <a:latin typeface="Calibri"/>
              </a:rPr>
              <a:t>META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4654512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recovered to Correction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FEATURE · CERTAINTY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One line implies a certainty that doesn't exist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50" b="0">
                <a:solidFill>
                  <a:srgbClr val="64748B"/>
                </a:solidFill>
                <a:latin typeface="Calibri"/>
              </a:rPr>
              <a:t>A retirement projection is a distribution, not a forecast. So show the distribution.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61264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10,000 simulated paths of household value — median plus 10th / 25th / 75th / 90th percentile bands, on a KPI tile that opens a fan chart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User controls for horizon, annual contribution and return assumptions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Seeded and reproducible — a projection that changes every time you open it is a slot machine, not a 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297680"/>
            <a:ext cx="6126480" cy="100584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4434840"/>
            <a:ext cx="56692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No new data source.  </a:t>
            </a:r>
            <a:r>
              <a:rPr sz="1200" b="0">
                <a:solidFill>
                  <a:srgbClr val="1F2937"/>
                </a:solidFill>
                <a:latin typeface="Calibri"/>
              </a:rPr>
              <a:t>Volatility is estimated from the 52-week high/low already sitting in every row of the table. Look hard at what your data can already tell you before you go shopping for a new feed.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2103120"/>
            <a:ext cx="411480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0" y="2331720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Calibri"/>
              </a:rPr>
              <a:t>Median @ year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4260000"/>
            <a:ext cx="200000" cy="80000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680960" y="4282000"/>
            <a:ext cx="200000" cy="36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680960" y="4288000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22538" y="4152309"/>
            <a:ext cx="200000" cy="172306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22538" y="4199694"/>
            <a:ext cx="200000" cy="775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922538" y="4226462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64116" y="4044617"/>
            <a:ext cx="200000" cy="264614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64116" y="4117386"/>
            <a:ext cx="200000" cy="1190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64116" y="4164924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405694" y="3936924"/>
            <a:ext cx="200000" cy="356922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405694" y="4035078"/>
            <a:ext cx="200000" cy="16061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405694" y="4103385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647272" y="3829232"/>
            <a:ext cx="200000" cy="449230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647272" y="3952771"/>
            <a:ext cx="200000" cy="202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647272" y="4041847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888850" y="3721539"/>
            <a:ext cx="200000" cy="541538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888850" y="3870462"/>
            <a:ext cx="200000" cy="243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888850" y="3980308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130428" y="3613847"/>
            <a:ext cx="200000" cy="633846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130428" y="3788155"/>
            <a:ext cx="200000" cy="28523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130428" y="3918770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372006" y="3506155"/>
            <a:ext cx="200000" cy="726152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9372006" y="3705847"/>
            <a:ext cx="200000" cy="3267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372006" y="3857231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613584" y="3398463"/>
            <a:ext cx="200000" cy="818460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613584" y="3623540"/>
            <a:ext cx="200000" cy="36830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9613584" y="3795693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855162" y="3290770"/>
            <a:ext cx="200000" cy="910768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855162" y="3541232"/>
            <a:ext cx="200000" cy="4098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9855162" y="3734154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0096740" y="3183078"/>
            <a:ext cx="200000" cy="1003076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10096740" y="3458924"/>
            <a:ext cx="200000" cy="4513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10096740" y="3672616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10338318" y="3075385"/>
            <a:ext cx="200000" cy="1095384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10338318" y="3376616"/>
            <a:ext cx="200000" cy="49292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10338318" y="3611077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10579896" y="2967693"/>
            <a:ext cx="200000" cy="1187692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0579896" y="3294309"/>
            <a:ext cx="200000" cy="5344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10579896" y="3549539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10821474" y="2860000"/>
            <a:ext cx="200000" cy="1280000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10821474" y="3212000"/>
            <a:ext cx="200000" cy="576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10821474" y="3488000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680960" y="4700000"/>
            <a:ext cx="3566160" cy="2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alibri"/>
              </a:rPr>
              <a:t>median path · bands = 25th–75th and 10th–90th percentile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D9E75"/>
                </a:solidFill>
                <a:latin typeface="Calibri"/>
              </a:rPr>
              <a:t>FEATURE · 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Is it actually worth what it costs?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50" b="0">
                <a:solidFill>
                  <a:srgbClr val="64748B"/>
                </a:solidFill>
                <a:latin typeface="Calibri"/>
              </a:rPr>
              <a:t>The question the whole dashboard implies — and never answered until 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612648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 three-stage DCF per held stock — analyst consensus, a 10-year fade, then a rebuilt steady state — shown as a fair-value strip beside the market price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Every judgement input is a user control: capex intensity, fade, terminal growth, beta, risk-free rate, equity risk premium, consensus haircut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 reverse DCF reports the discount rate the market is implicitly applying to consensus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 Trefis-style segment sum-of-the-parts tab values each business line separately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612648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4526280"/>
            <a:ext cx="56692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D9E75"/>
                </a:solidFill>
                <a:latin typeface="Calibri"/>
              </a:rPr>
              <a:t>Benchmarked externally, or it doesn't ship.  </a:t>
            </a:r>
            <a:r>
              <a:rPr sz="1200" b="0">
                <a:solidFill>
                  <a:srgbClr val="1F2937"/>
                </a:solidFill>
                <a:latin typeface="Calibri"/>
              </a:rPr>
              <a:t>This model was built three times before it was right — each time ‘verified’ against the vendor's own model, which only ever proved a flawed model had been faithfully reproduced. Internal consistency is not correctness.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2011680"/>
            <a:ext cx="411480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0" y="2240280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Calibri"/>
              </a:rPr>
              <a:t>Fair value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2743200"/>
            <a:ext cx="3383280" cy="59436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17160" y="28117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  <a:latin typeface="Calibri"/>
              </a:rPr>
              <a:t>MSFT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81178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D9E75"/>
                </a:solidFill>
                <a:latin typeface="Calibri"/>
              </a:rPr>
              <a:t>$583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7160" y="3063240"/>
            <a:ext cx="3109280" cy="2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alibri"/>
              </a:rPr>
              <a:t>vs $600 independent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3474720"/>
            <a:ext cx="3383280" cy="59436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17160" y="35433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  <a:latin typeface="Calibri"/>
              </a:rPr>
              <a:t>NVDA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35433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D9E75"/>
                </a:solidFill>
                <a:latin typeface="Calibri"/>
              </a:rPr>
              <a:t>$267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7160" y="3794760"/>
            <a:ext cx="3109280" cy="2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alibri"/>
              </a:rPr>
              <a:t>vs $280 independent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0" y="4206240"/>
            <a:ext cx="3383280" cy="59436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817160" y="42748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  <a:latin typeface="Calibri"/>
              </a:rPr>
              <a:t>AMD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427482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0A93B"/>
                </a:solidFill>
                <a:latin typeface="Calibri"/>
              </a:rPr>
              <a:t>segment view refused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7160" y="4526280"/>
            <a:ext cx="3109280" cy="2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alibri"/>
              </a:rPr>
              <a:t>segments overstate revenue 12%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983480"/>
            <a:ext cx="3566160" cy="2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alibri"/>
              </a:rPr>
              <a:t>refusing to render, with a reason, is a feature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24B4A"/>
                </a:solidFill>
                <a:latin typeface="Calibri"/>
              </a:rPr>
              <a:t>FEATURE · X-RAY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What do I actually own?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50" b="0">
                <a:solidFill>
                  <a:srgbClr val="64748B"/>
                </a:solidFill>
                <a:latin typeface="Calibri"/>
              </a:rPr>
              <a:t>Single-name risk arrives through funds, not just through shares — and the account tabs cannot see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61264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Every held ETF and mutual fund decomposed into its underlying companies, then combined with the directly held shares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 duplicate-tracker check — three separate S&amp;P 500 trackers held side by side is one bet, not three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Explicit buckets for each fund's long tail, cash inside funds, and any fund not yet mapped — reconciled to the household total, to the dollar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297680"/>
            <a:ext cx="6126480" cy="100584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4434840"/>
            <a:ext cx="56692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24B4A"/>
                </a:solidFill>
                <a:latin typeface="Calibri"/>
              </a:rPr>
              <a:t>A look-through that hides its gaps  </a:t>
            </a:r>
            <a:r>
              <a:rPr sz="1200" b="0">
                <a:solidFill>
                  <a:srgbClr val="1F2937"/>
                </a:solidFill>
                <a:latin typeface="Calibri"/>
              </a:rPr>
              <a:t>understates the exact concentration it exists to reveal. So while any fund is unmapped, every figure is presented as a floor — ‘at least’, never a total.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2103120"/>
            <a:ext cx="411480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0" y="2331720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Calibri"/>
              </a:rPr>
              <a:t>True single-name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8346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Calibri"/>
              </a:rPr>
              <a:t>NVDA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0" y="2880360"/>
            <a:ext cx="914400" cy="1371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744200" y="28346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F2937"/>
                </a:solidFill>
                <a:latin typeface="Calibri"/>
              </a:rPr>
              <a:t>6.2%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2918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Calibri"/>
              </a:rPr>
              <a:t>AAPL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3337560"/>
            <a:ext cx="502920" cy="137160"/>
          </a:xfrm>
          <a:prstGeom prst="rect">
            <a:avLst/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89720" y="3337560"/>
            <a:ext cx="411480" cy="1371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744200" y="32918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F2937"/>
                </a:solidFill>
                <a:latin typeface="Calibri"/>
              </a:rPr>
              <a:t>5.1%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7490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Calibri"/>
              </a:rPr>
              <a:t>MSFT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0" y="3794760"/>
            <a:ext cx="365760" cy="137160"/>
          </a:xfrm>
          <a:prstGeom prst="rect">
            <a:avLst/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052560" y="3794760"/>
            <a:ext cx="548640" cy="1371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744200" y="37490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F2937"/>
                </a:solidFill>
                <a:latin typeface="Calibri"/>
              </a:rPr>
              <a:t>4.8%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206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Calibri"/>
              </a:rPr>
              <a:t>AMZN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4251960"/>
            <a:ext cx="731520" cy="1371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744200" y="42062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F2937"/>
                </a:solidFill>
                <a:latin typeface="Calibri"/>
              </a:rPr>
              <a:t>3.4%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6634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Calibri"/>
              </a:rPr>
              <a:t>AVGO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0" y="4709160"/>
            <a:ext cx="274320" cy="137160"/>
          </a:xfrm>
          <a:prstGeom prst="rect">
            <a:avLst/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961120" y="4709160"/>
            <a:ext cx="320040" cy="1371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744200" y="46634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F2937"/>
                </a:solidFill>
                <a:latin typeface="Calibri"/>
              </a:rPr>
              <a:t>2.2%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937760"/>
            <a:ext cx="3566160" cy="2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alibri"/>
              </a:rPr>
              <a:t>green = shares you hold · purple = reaching you through funds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FEATURE · FUNDAMENTALS POPUP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Click any ticker — get the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12648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Factsheet — a plain-English summary + a vitals grid (sector, HQ, founded, employees, market cap / issuer, expense, AUM, holdings)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 data-derived “Did you know?” fun fact on every name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An 8-factor risk summary (incl. supply-chain) and an advisor scorecard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Cached locally, refreshed daily — fast on repeat opens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828800"/>
            <a:ext cx="411480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2057400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Calibri"/>
              </a:rPr>
              <a:t>Apple Inc.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39572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Calibri"/>
              </a:rPr>
              <a:t>Technology · Consumer Electronics · Cupertino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697480"/>
            <a:ext cx="35661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Calibri"/>
              </a:rPr>
              <a:t>Designs iPhone, Mac &amp; iPad plus a fast-growing Services arm; among the world's most valuable companies.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3611880"/>
            <a:ext cx="3566160" cy="868680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0" y="3703320"/>
            <a:ext cx="32461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Did you know?  </a:t>
            </a:r>
            <a:r>
              <a:rPr sz="1100" b="0">
                <a:solidFill>
                  <a:srgbClr val="1F2937"/>
                </a:solidFill>
                <a:latin typeface="Calibri"/>
              </a:rPr>
              <a:t>Founded in a garage in 1976 — now one of a handful of companies ever worth over $3 trillion.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  <a:latin typeface="Calibri"/>
              </a:rPr>
              <a:t>FEATURE · RULES-BASED RANKING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Rankings you can customize — and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08792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•  Sector, fund/category, and growth-core rankings on a declarative rules engine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•  Tune weights, thresholds, and IF/THEN conditions live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•  Every score traces to its rules — a per-row breakdown popover explains it</a:t>
            </a:r>
          </a:p>
        </p:txBody>
      </p:sp>
      <p:pic>
        <p:nvPicPr>
          <p:cNvPr id="7" name="Picture 6" descr="08_ranking_eng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871" y="2560320"/>
            <a:ext cx="604521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FEATURE · DAILY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Zero-touch, every morning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Fetch → build → guard → import → reprice → recompute → alert → project income → regenerate → publish — with a safe fallback at every rung.</a:t>
            </a:r>
          </a:p>
        </p:txBody>
      </p:sp>
      <p:pic>
        <p:nvPicPr>
          <p:cNvPr id="7" name="Picture 6" descr="04_schedule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143" y="1965960"/>
            <a:ext cx="1420665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D9E75"/>
                </a:solidFill>
                <a:latin typeface="Calibri"/>
              </a:rPr>
              <a:t>FEATURE · RELIABILITY &amp; DATA 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Built to be trusted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45338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96112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743200"/>
            <a:ext cx="2941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Integrity guard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08960"/>
            <a:ext cx="294132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Every row checked against its 52-week band; corrupt / #N/A values are suppressed and flagged with a ⚠ badge — and suppressed rows can never raise a false alert.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7784" y="1783080"/>
            <a:ext cx="345338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623816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23816" y="2743200"/>
            <a:ext cx="2941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Fallback ladder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3816" y="3108960"/>
            <a:ext cx="294132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FMP live → workbook tail → carry-forward. A total outage degrades safely to the last good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783080"/>
            <a:ext cx="345338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351520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51520" y="2743200"/>
            <a:ext cx="2941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Never blanks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1520" y="3108960"/>
            <a:ext cx="294132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Holdings, rankings, charts, history, alerts and the dividend calendar are all preserved on any failure — the dashboard never breaks.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Logging &amp; a debug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31723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96112" y="235915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3063240"/>
            <a:ext cx="48051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Structured run logs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429000"/>
            <a:ext cx="4805172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Every daily run writes a per-run event stream, a human-readable report, and an append-only history — auto-pruned. A failed run is diagnosable after the fact.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2103120"/>
            <a:ext cx="531723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87668" y="235915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87668" y="3063240"/>
            <a:ext cx="48051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Opt-in debug panel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7668" y="3429000"/>
            <a:ext cx="4805172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Enable with ?debug=1 or Shift+D (off by default). See connector calls, data provenance, cache state, and errors — with a one-click copy-report for support.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21</a:t>
            </a:r>
          </a:p>
        </p:txBody>
      </p:sp>
      <p:pic>
        <p:nvPicPr>
          <p:cNvPr id="6" name="Picture 5" descr="0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68954"/>
            <a:ext cx="10908792" cy="443449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WHY IT HOLDS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Engineering discipline the AI applied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21458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96112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743200"/>
            <a:ext cx="200939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Modular 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08960"/>
            <a:ext cx="2009394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A single-file app assembled from 23 concern-based modules — with a byte-for-byte golden-master guard.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5858" y="1783080"/>
            <a:ext cx="2521458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691890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91890" y="2743200"/>
            <a:ext cx="200939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Verified changes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91890" y="3108960"/>
            <a:ext cx="2009394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Edits validated in a stubbed-DOM harness, not just a syntax check — regressions caught before publish.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783080"/>
            <a:ext cx="2521458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87668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87668" y="2743200"/>
            <a:ext cx="200939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Provider adapter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7668" y="3108960"/>
            <a:ext cx="2009394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All connector I/O behind one boundary — a provider or shape change is a one-place edit.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27414" y="1783080"/>
            <a:ext cx="2521458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283446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83446" y="2743200"/>
            <a:ext cx="200939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Integrity gates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3446" y="3108960"/>
            <a:ext cx="2009394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Guards and safe fallbacks at every automated step — speed without fragility.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THE AI-ADOPTION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</a:rPr>
              <a:t>How it was built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2560320" cy="3200400"/>
          </a:xfrm>
          <a:prstGeom prst="roundRect">
            <a:avLst>
              <a:gd name="adj" fmla="val 5000"/>
            </a:avLst>
          </a:prstGeom>
          <a:solidFill>
            <a:srgbClr val="14304F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600200" y="224028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E0A1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7C93AB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Clarify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21031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A couple of pointed questions before each step — build the right thing, not the wrong thing.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920240"/>
            <a:ext cx="2560320" cy="3200400"/>
          </a:xfrm>
          <a:prstGeom prst="roundRect">
            <a:avLst>
              <a:gd name="adj" fmla="val 5000"/>
            </a:avLst>
          </a:prstGeom>
          <a:solidFill>
            <a:srgbClr val="14304F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389120" y="224028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11880" y="30632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7C93AB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338328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Plan + mock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794760"/>
            <a:ext cx="21031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Show a plan and a visual mockup, agree, then build — no surprises.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920240"/>
            <a:ext cx="2560320" cy="3200400"/>
          </a:xfrm>
          <a:prstGeom prst="roundRect">
            <a:avLst>
              <a:gd name="adj" fmla="val 5000"/>
            </a:avLst>
          </a:prstGeom>
          <a:solidFill>
            <a:srgbClr val="14304F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178040" y="224028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30632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7C93AB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38328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Small steps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794760"/>
            <a:ext cx="21031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One capability per prompt, validated, then the next — reversible and traceable.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920240"/>
            <a:ext cx="2560320" cy="3200400"/>
          </a:xfrm>
          <a:prstGeom prst="roundRect">
            <a:avLst>
              <a:gd name="adj" fmla="val 5000"/>
            </a:avLst>
          </a:prstGeom>
          <a:solidFill>
            <a:srgbClr val="14304F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966960" y="224028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89720" y="30632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7C93AB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338328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Harden + doc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794760"/>
            <a:ext cx="21031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Guards, tests, and living docs so it's production-grade, not a demo.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C93A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C93A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DELIVERY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Baseline v1.0 is the starting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24</a:t>
            </a:r>
          </a:p>
        </p:txBody>
      </p:sp>
      <p:sp>
        <p:nvSpPr>
          <p:cNvPr id="6" name="Rectangle 5"/>
          <p:cNvSpPr/>
          <p:nvPr/>
        </p:nvSpPr>
        <p:spPr>
          <a:xfrm>
            <a:off x="1737360" y="3108960"/>
            <a:ext cx="8714232" cy="12700"/>
          </a:xfrm>
          <a:prstGeom prst="rect">
            <a:avLst/>
          </a:prstGeom>
          <a:solidFill>
            <a:srgbClr val="E5E9F0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591056" y="296265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>
                <a:solidFill>
                  <a:srgbClr val="2E75B6"/>
                </a:solidFill>
                <a:latin typeface="Cambria"/>
              </a:rPr>
              <a:t>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42032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2574036" y="3429000"/>
            <a:ext cx="8622792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9-tab dashboard, live portfolios, retirement, ranking, valuation, look-through, daily automation, docs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05288" y="296265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28632" y="214884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>
                <a:solidFill>
                  <a:srgbClr val="64748B"/>
                </a:solidFill>
                <a:latin typeface="Cambria"/>
              </a:rPr>
              <a:t>Next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28632" y="2542032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Backlog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0196" y="3429000"/>
            <a:ext cx="8622792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Tax-lot, PDF/email, corporate actions, saved scenarios, security/CI, Morningstar FVE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</a:rPr>
              <a:t>What it's worth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2521458" cy="2560320"/>
          </a:xfrm>
          <a:prstGeom prst="roundRect">
            <a:avLst>
              <a:gd name="adj" fmla="val 6000"/>
            </a:avLst>
          </a:prstGeom>
          <a:solidFill>
            <a:srgbClr val="14304F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2469936"/>
            <a:ext cx="2064258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E0A106"/>
                </a:solidFill>
                <a:latin typeface="Cambria"/>
              </a:rPr>
              <a:t>Hours →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91840"/>
            <a:ext cx="206425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weekly upkeep replaced by a zero-touch daily refresh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5858" y="2103120"/>
            <a:ext cx="2521458" cy="2560320"/>
          </a:xfrm>
          <a:prstGeom prst="roundRect">
            <a:avLst>
              <a:gd name="adj" fmla="val 6000"/>
            </a:avLst>
          </a:prstGeom>
          <a:solidFill>
            <a:srgbClr val="14304F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64458" y="2469936"/>
            <a:ext cx="2064258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D9E75"/>
                </a:solidFill>
                <a:latin typeface="Cambria"/>
              </a:rPr>
              <a:t>100% 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4458" y="3291840"/>
            <a:ext cx="206425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holdings never leave the machine — private by design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2103120"/>
            <a:ext cx="2521458" cy="2560320"/>
          </a:xfrm>
          <a:prstGeom prst="roundRect">
            <a:avLst>
              <a:gd name="adj" fmla="val 6000"/>
            </a:avLst>
          </a:prstGeom>
          <a:solidFill>
            <a:srgbClr val="14304F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60236" y="2469936"/>
            <a:ext cx="2064258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2E75B6"/>
                </a:solidFill>
                <a:latin typeface="Cambria"/>
              </a:rPr>
              <a:t>1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0236" y="3291840"/>
            <a:ext cx="206425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shareable, installs nothing, works offline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27414" y="2103120"/>
            <a:ext cx="2521458" cy="2560320"/>
          </a:xfrm>
          <a:prstGeom prst="roundRect">
            <a:avLst>
              <a:gd name="adj" fmla="val 6000"/>
            </a:avLst>
          </a:prstGeom>
          <a:solidFill>
            <a:srgbClr val="14304F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56014" y="2469936"/>
            <a:ext cx="2064258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E24B4A"/>
                </a:solidFill>
                <a:latin typeface="Cambria"/>
              </a:rPr>
              <a:t>Adaptable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56014" y="3291840"/>
            <a:ext cx="206425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rules, universe, and features change by conversation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C93A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C93A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FOR YOUR CLIENT ENGAGEMENTS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The repeatable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21458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96112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E0A1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743200"/>
            <a:ext cx="200939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Find the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08960"/>
            <a:ext cx="2009394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A spreadsheet-and-manual-lookup process that's stale, fragmented, and high-effort.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5858" y="1783080"/>
            <a:ext cx="2521458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691890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91890" y="2743200"/>
            <a:ext cx="200939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Build conversationally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91890" y="3108960"/>
            <a:ext cx="2009394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Plan, mock, and build feature by feature — in the client's own language.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783080"/>
            <a:ext cx="2521458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87668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87668" y="2743200"/>
            <a:ext cx="200939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Harden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7668" y="3108960"/>
            <a:ext cx="2009394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Guards, safe fallbacks, and tests so it runs unattended and never breaks.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27414" y="1783080"/>
            <a:ext cx="2521458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283446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83446" y="2743200"/>
            <a:ext cx="200939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Document &amp; automate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3446" y="3108960"/>
            <a:ext cx="2009394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Living docs, a scheduled refresh, and observability — hand off a system, not a script.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AI AGENT INFRASTRUCTURE · BOB 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</a:rPr>
              <a:t>MCP, Markdown &amp; the agent configuration layer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453384" cy="4023360"/>
          </a:xfrm>
          <a:prstGeom prst="roundRect">
            <a:avLst>
              <a:gd name="adj" fmla="val 5000"/>
            </a:avLst>
          </a:prstGeom>
          <a:solidFill>
            <a:srgbClr val="14304F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3453384" cy="45720"/>
          </a:xfrm>
          <a:prstGeom prst="rect">
            <a:avLst/>
          </a:prstGeom>
          <a:solidFill>
            <a:srgbClr val="E0A1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E0A1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99618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Remote HTTP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51760"/>
            <a:ext cx="2996184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Both data connectors are fully-managed remote HTTP servers — no npm install, no local process to babysit. Bigdata connects automatically. FMP binds :8080 on startup.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023360"/>
            <a:ext cx="3087624" cy="594360"/>
          </a:xfrm>
          <a:prstGeom prst="roundRect">
            <a:avLst>
              <a:gd name="adj" fmla="val 4000"/>
            </a:avLst>
          </a:prstGeom>
          <a:solidFill>
            <a:srgbClr val="0A1D35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4114800"/>
            <a:ext cx="281330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E0A106"/>
                </a:solidFill>
                <a:latin typeface="Calibri"/>
              </a:rPr>
              <a:t>Bigdata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343400"/>
            <a:ext cx="281330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Calibri"/>
              </a:rPr>
              <a:t>https://mcp.bigdata.com/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54880"/>
            <a:ext cx="3087624" cy="594360"/>
          </a:xfrm>
          <a:prstGeom prst="roundRect">
            <a:avLst>
              <a:gd name="adj" fmla="val 4000"/>
            </a:avLst>
          </a:prstGeom>
          <a:solidFill>
            <a:srgbClr val="0A1D35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846320"/>
            <a:ext cx="281330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E0A106"/>
                </a:solidFill>
                <a:latin typeface="Calibri"/>
              </a:rPr>
              <a:t>FMP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281330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Calibri"/>
              </a:rPr>
              <a:t>http://localhost:8080/mcp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7784" y="1828800"/>
            <a:ext cx="3453384" cy="4023360"/>
          </a:xfrm>
          <a:prstGeom prst="roundRect">
            <a:avLst>
              <a:gd name="adj" fmla="val 5000"/>
            </a:avLst>
          </a:prstGeom>
          <a:solidFill>
            <a:srgbClr val="14304F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67784" y="1828800"/>
            <a:ext cx="3453384" cy="4572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596384" y="201168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96384" y="2194560"/>
            <a:ext cx="299618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Markdown instruction files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6384" y="2651760"/>
            <a:ext cx="2996184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Agent behaviour lives in plain Markdown: AGENTS.md (invariants, pipeline rules, provider constraints), daily_refresh.md (9-step playbook), and the .bob/ rules-ask layer.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50664" y="4023360"/>
            <a:ext cx="3087624" cy="594360"/>
          </a:xfrm>
          <a:prstGeom prst="roundRect">
            <a:avLst>
              <a:gd name="adj" fmla="val 4000"/>
            </a:avLst>
          </a:prstGeom>
          <a:solidFill>
            <a:srgbClr val="0A1D35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33544" y="4114800"/>
            <a:ext cx="281330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0E7C86"/>
                </a:solidFill>
                <a:latin typeface="Calibri"/>
              </a:rPr>
              <a:t>AGENTS.md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3544" y="4343400"/>
            <a:ext cx="281330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Calibri"/>
              </a:rPr>
              <a:t>invariants · pipeline · data-provider rules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50664" y="4754880"/>
            <a:ext cx="3087624" cy="594360"/>
          </a:xfrm>
          <a:prstGeom prst="roundRect">
            <a:avLst>
              <a:gd name="adj" fmla="val 4000"/>
            </a:avLst>
          </a:prstGeom>
          <a:solidFill>
            <a:srgbClr val="0A1D35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33544" y="4846320"/>
            <a:ext cx="281330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0E7C86"/>
                </a:solidFill>
                <a:latin typeface="Calibri"/>
              </a:rPr>
              <a:t>daily_refresh.md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33544" y="5074920"/>
            <a:ext cx="281330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Calibri"/>
              </a:rPr>
              <a:t>10-step daily playbook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5488" y="1828800"/>
            <a:ext cx="3453384" cy="4023360"/>
          </a:xfrm>
          <a:prstGeom prst="roundRect">
            <a:avLst>
              <a:gd name="adj" fmla="val 5000"/>
            </a:avLst>
          </a:prstGeom>
          <a:solidFill>
            <a:srgbClr val="14304F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95488" y="1828800"/>
            <a:ext cx="3453384" cy="45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324088" y="201168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24088" y="2194560"/>
            <a:ext cx="299618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Env vars &amp; secrets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4088" y="2651760"/>
            <a:ext cx="2996184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API keys never live in code. FMP_ACCESS_TOKEN and BIGDATA_API_KEY are read from .env (gitignored). mcp.json carries only the transport URL and auto-approved tool list.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78368" y="4023360"/>
            <a:ext cx="3087624" cy="594360"/>
          </a:xfrm>
          <a:prstGeom prst="roundRect">
            <a:avLst>
              <a:gd name="adj" fmla="val 4000"/>
            </a:avLst>
          </a:prstGeom>
          <a:solidFill>
            <a:srgbClr val="0A1D35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461248" y="4114800"/>
            <a:ext cx="281330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7C3AED"/>
                </a:solidFill>
                <a:latin typeface="Calibri"/>
              </a:rPr>
              <a:t>FMP_ACCESS_TOKEN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61248" y="4343400"/>
            <a:ext cx="281330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Calibri"/>
              </a:rPr>
              <a:t>.env (gitignored)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78368" y="4754880"/>
            <a:ext cx="3087624" cy="594360"/>
          </a:xfrm>
          <a:prstGeom prst="roundRect">
            <a:avLst>
              <a:gd name="adj" fmla="val 4000"/>
            </a:avLst>
          </a:prstGeom>
          <a:solidFill>
            <a:srgbClr val="0A1D35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461248" y="4846320"/>
            <a:ext cx="281330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7C3AED"/>
                </a:solidFill>
                <a:latin typeface="Calibri"/>
              </a:rPr>
              <a:t>BIGDATA_API_KEY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61248" y="5074920"/>
            <a:ext cx="281330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Calibri"/>
              </a:rPr>
              <a:t>.bob/mcp.json → x-api-key header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C93A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C93A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  <a:latin typeface="Calibri"/>
              </a:rPr>
              <a:t>CODE ANALYSIS · INIT &amp; MIGRATION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Understanding and evolving an existing codebase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50" b="0">
                <a:solidFill>
                  <a:srgbClr val="64748B"/>
                </a:solidFill>
                <a:latin typeface="Calibri"/>
              </a:rPr>
              <a:t>Bob 2.0 can read an entire repo on first open, reason about its structure, and guide migrations — not just write net-new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61264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•  GetSymbolsOverview and FindSymbol map every class, function, and module across the project in seconds — no manual spelunking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•  FindReferencingSymbols traces all callers of any symbol, so a refactor's blast radius is known before the first edit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•  Init flow: Bob reads AGENTS.md, inspects src/dash/, scripts/, tests/ and builds a mental model of the codebase before answering any question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•  Migration: replace a provider, rename a constant, restructure a module — Bob proposes the diff, verifies it compiles in the stubbed-DOM harness, then ships both HTML copies in a single agent turn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1828800"/>
            <a:ext cx="4557384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040880" y="1828800"/>
            <a:ext cx="4557384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269480" y="1920240"/>
            <a:ext cx="410018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2E75B6"/>
                </a:solidFill>
                <a:latin typeface="Calibri"/>
              </a:rPr>
              <a:t>Init  ·  first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2286000"/>
            <a:ext cx="685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2E75B6"/>
                </a:solidFill>
                <a:latin typeface="Calibri"/>
              </a:rPr>
              <a:t>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286000"/>
            <a:ext cx="332294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Calibri"/>
              </a:rPr>
              <a:t>AGENTS.md + TASKS.md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651760"/>
            <a:ext cx="685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2E75B6"/>
                </a:solidFill>
                <a:latin typeface="Calibri"/>
              </a:rPr>
              <a:t>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651760"/>
            <a:ext cx="332294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Calibri"/>
              </a:rPr>
              <a:t>src/dash/ · scripts/ · tests/ · data/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017520"/>
            <a:ext cx="685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2E75B6"/>
                </a:solidFill>
                <a:latin typeface="Calibri"/>
              </a:rPr>
              <a:t>Verify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017520"/>
            <a:ext cx="332294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Calibri"/>
              </a:rPr>
              <a:t>golden-master + test suite 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3383280"/>
            <a:ext cx="685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2E75B6"/>
                </a:solidFill>
                <a:latin typeface="Calibri"/>
              </a:rPr>
              <a:t>Ready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383280"/>
            <a:ext cx="332294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Calibri"/>
              </a:rPr>
              <a:t>can answer any question about the codebase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0" y="4023360"/>
            <a:ext cx="4557384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040880" y="4023360"/>
            <a:ext cx="4557384" cy="45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69480" y="4114800"/>
            <a:ext cx="410018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  <a:latin typeface="Calibri"/>
              </a:rPr>
              <a:t>Migration  ·  provider swap example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4480560"/>
            <a:ext cx="685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7C3AED"/>
                </a:solidFill>
                <a:latin typeface="Calibri"/>
              </a:rPr>
              <a:t>Identify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480560"/>
            <a:ext cx="332294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Calibri"/>
              </a:rPr>
              <a:t>FindReferencingSymbols on the old provider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4846320"/>
            <a:ext cx="685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7C3AED"/>
                </a:solidFill>
                <a:latin typeface="Calibri"/>
              </a:rPr>
              <a:t>Diff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846320"/>
            <a:ext cx="332294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Calibri"/>
              </a:rPr>
              <a:t>propose targeted apply_diff per 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5212080"/>
            <a:ext cx="685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7C3AED"/>
                </a:solidFill>
                <a:latin typeface="Calibri"/>
              </a:rPr>
              <a:t>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5212080"/>
            <a:ext cx="332294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Calibri"/>
              </a:rPr>
              <a:t>node --test + pytest in the same turn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5577840"/>
            <a:ext cx="685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7C3AED"/>
                </a:solidFill>
                <a:latin typeface="Calibri"/>
              </a:rPr>
              <a:t>Deploy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5577840"/>
            <a:ext cx="332294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Calibri"/>
              </a:rPr>
              <a:t>assemble + inject + write both HTML copies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40080" y="233172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24128" y="233172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E0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408176" y="233172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From spreadsheet to self-updating system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E0A106"/>
                </a:solidFill>
                <a:latin typeface="Cambria"/>
              </a:rPr>
              <a:t>conversationally.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5488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Tech Drawdown · Version 1.0 · Rules-based analytics, not financial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_xmlsignatures/_rels/origin.sigs.rels><?xml version="1.0" encoding="UTF-8" standalone="yes"?>
<Relationships xmlns="http://schemas.openxmlformats.org/package/2006/relationships"><Relationship Id="rId1" Type="http://schemas.openxmlformats.org/package/2006/relationships/digital-signature/signature" Target="sig1.xml"/></Relationships>
</file>

<file path=_xmlsignatures/sig1.xml><?xml version="1.0" encoding="utf-8"?>
<Signature xmlns="http://www.w3.org/2000/09/xmldsig#" Id="idPackageSignature">
  <SignedInfo>
    <CanonicalizationMethod Algorithm="http://www.w3.org/TR/2001/REC-xml-c14n-20010315"/>
    <SignatureMethod Algorithm="http://www.w3.org/2001/04/xmldsig-more#ecdsa-sha384"/>
    <Reference Type="http://www.w3.org/2000/09/xmldsig#Object" URI="#idPackageObject">
      <DigestMethod Algorithm="http://www.w3.org/2001/04/xmldsig-more#sha384"/>
      <DigestValue>yGXjssRUaNkjYduAYGwxdtXbOCK0BJahftwAOqbsPuAtDn2rAuYIV3yK4cYI4v7D</DigestValue>
    </Reference>
    <Reference Type="http://www.w3.org/2000/09/xmldsig#Object" URI="#idOfficeObject">
      <DigestMethod Algorithm="http://www.w3.org/2001/04/xmldsig-more#sha384"/>
      <DigestValue>C5tzG1qJXH6LZ2fICTU/g6xZjltF5rnGiN+jSOxDPvCu0OqE54kmYLnlIPRM1Geu</DigestValue>
    </Reference>
    <Reference Type="http://uri.etsi.org/01903#SignedProperties" URI="#idSignedProperties">
      <Transforms>
        <Transform Algorithm="http://www.w3.org/TR/2001/REC-xml-c14n-20010315"/>
      </Transforms>
      <DigestMethod Algorithm="http://www.w3.org/2001/04/xmldsig-more#sha384"/>
      <DigestValue>CXkW3aV3Iysenb5+oYdfnlbzDFhVZvDDXvamtjxJZC/vVJWClbH94cUtnJjxRq7/</DigestValue>
    </Reference>
  </SignedInfo>
  <SignatureValue>ke8e2Lhg+Hdcle4fI8SPsg7iNTlym/j1oU0K+v6Iidsd+918LZGUnAHBI+yxajHak4G2XHHCYGhJ
A3CbgvJV5DkLlKtENX+SLGH2OYPcJ5AeW6JjrwX2e3TX3AYjP/UB</SignatureValue>
  <KeyInfo>
    <X509Data>
      <X509Certificate>MIIBkTCCARagAwIBAgIJAPdIHSGNfZuUMAoGCCqGSM49BAMDMC8xLTArBgNVBAMTJGNhYTIyY2YxLWMxM2YtNDM3Yy1iYWZkLWFhNjM5MjU5MDkzMTAeFw0yNjAzMDgwMTU2MzlaFw0yNzAzMDgxMzU2MzlaMC8xLTArBgNVBAMTJGNhYTIyY2YxLWMxM2YtNDM3Yy1iYWZkLWFhNjM5MjU5MDkzMTB2MBAGByqGSM49AgEGBSuBBAAiA2IABNp6f9pfSrQcXKO+mGODiKCBvrFCgM6z6svOeFdn85eIZkMNYGiGy4qv372dsw6lUyYdMetE51bq0gc2taRfqpv74xATA8+srJCgSRF8wKRuy54sgtL8WciTs1VhOPHsaTAKBggqhkjOPQQDAwNpADBmAjEA5hZTKtauY9KNCFdXK5ZSsXmnIrEb3vm1m+GkTPdKWTDFsKMxe03DPvyHL6v5vvpnAjEAsDyuNkP5luWjdar8Nfd6yIN8WevzfJxqjLpxnT0OFiseNRTv1Xfsu9jmilU9jePZ</X509Certificate>
    </X509Data>
  </KeyInfo>
  <Object Id="idPackageObject">
    <Manifest>
      <Reference URI="/_rels/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LqXyoR7Obg/4ueBgP4vHEvDgJw1Of/31pxr5yH6uWCIENB5OwyEPinwaaq2GV2LQ</DigestValue>
      </Reference>
      <Reference URI="/ppt/_rels/presentation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6"/>
            <mdssi:RelationshipReference xmlns:mdssi="http://schemas.openxmlformats.org/package/2006/digital-signature" SourceId="rId3"/>
            <mdssi:RelationshipReference xmlns:mdssi="http://schemas.openxmlformats.org/package/2006/digital-signature" SourceId="rId21"/>
            <mdssi:RelationshipReference xmlns:mdssi="http://schemas.openxmlformats.org/package/2006/digital-signature" SourceId="rId34"/>
            <mdssi:RelationshipReference xmlns:mdssi="http://schemas.openxmlformats.org/package/2006/digital-signature" SourceId="rId7"/>
            <mdssi:RelationshipReference xmlns:mdssi="http://schemas.openxmlformats.org/package/2006/digital-signature" SourceId="rId12"/>
            <mdssi:RelationshipReference xmlns:mdssi="http://schemas.openxmlformats.org/package/2006/digital-signature" SourceId="rId17"/>
            <mdssi:RelationshipReference xmlns:mdssi="http://schemas.openxmlformats.org/package/2006/digital-signature" SourceId="rId25"/>
            <mdssi:RelationshipReference xmlns:mdssi="http://schemas.openxmlformats.org/package/2006/digital-signature" SourceId="rId33"/>
            <mdssi:RelationshipReference xmlns:mdssi="http://schemas.openxmlformats.org/package/2006/digital-signature" SourceId="rId2"/>
            <mdssi:RelationshipReference xmlns:mdssi="http://schemas.openxmlformats.org/package/2006/digital-signature" SourceId="rId16"/>
            <mdssi:RelationshipReference xmlns:mdssi="http://schemas.openxmlformats.org/package/2006/digital-signature" SourceId="rId20"/>
            <mdssi:RelationshipReference xmlns:mdssi="http://schemas.openxmlformats.org/package/2006/digital-signature" SourceId="rId29"/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  <mdssi:RelationshipReference xmlns:mdssi="http://schemas.openxmlformats.org/package/2006/digital-signature" SourceId="rId11"/>
            <mdssi:RelationshipReference xmlns:mdssi="http://schemas.openxmlformats.org/package/2006/digital-signature" SourceId="rId24"/>
            <mdssi:RelationshipReference xmlns:mdssi="http://schemas.openxmlformats.org/package/2006/digital-signature" SourceId="rId32"/>
            <mdssi:RelationshipReference xmlns:mdssi="http://schemas.openxmlformats.org/package/2006/digital-signature" SourceId="rId5"/>
            <mdssi:RelationshipReference xmlns:mdssi="http://schemas.openxmlformats.org/package/2006/digital-signature" SourceId="rId15"/>
            <mdssi:RelationshipReference xmlns:mdssi="http://schemas.openxmlformats.org/package/2006/digital-signature" SourceId="rId23"/>
            <mdssi:RelationshipReference xmlns:mdssi="http://schemas.openxmlformats.org/package/2006/digital-signature" SourceId="rId28"/>
            <mdssi:RelationshipReference xmlns:mdssi="http://schemas.openxmlformats.org/package/2006/digital-signature" SourceId="rId10"/>
            <mdssi:RelationshipReference xmlns:mdssi="http://schemas.openxmlformats.org/package/2006/digital-signature" SourceId="rId19"/>
            <mdssi:RelationshipReference xmlns:mdssi="http://schemas.openxmlformats.org/package/2006/digital-signature" SourceId="rId31"/>
            <mdssi:RelationshipReference xmlns:mdssi="http://schemas.openxmlformats.org/package/2006/digital-signature" SourceId="rId4"/>
            <mdssi:RelationshipReference xmlns:mdssi="http://schemas.openxmlformats.org/package/2006/digital-signature" SourceId="rId9"/>
            <mdssi:RelationshipReference xmlns:mdssi="http://schemas.openxmlformats.org/package/2006/digital-signature" SourceId="rId14"/>
            <mdssi:RelationshipReference xmlns:mdssi="http://schemas.openxmlformats.org/package/2006/digital-signature" SourceId="rId22"/>
            <mdssi:RelationshipReference xmlns:mdssi="http://schemas.openxmlformats.org/package/2006/digital-signature" SourceId="rId27"/>
            <mdssi:RelationshipReference xmlns:mdssi="http://schemas.openxmlformats.org/package/2006/digital-signature" SourceId="rId30"/>
            <mdssi:RelationshipReference xmlns:mdssi="http://schemas.openxmlformats.org/package/2006/digital-signature" SourceId="rId35"/>
            <mdssi:RelationshipReference xmlns:mdssi="http://schemas.openxmlformats.org/package/2006/digital-signature" SourceId="rId8"/>
            <mdssi:RelationshipReference xmlns:mdssi="http://schemas.openxmlformats.org/package/2006/digital-signature" SourceId="rId13"/>
            <mdssi:RelationshipReference xmlns:mdssi="http://schemas.openxmlformats.org/package/2006/digital-signature" SourceId="rId18"/>
          </Transform>
          <Transform Algorithm="http://www.w3.org/TR/2001/REC-xml-c14n-20010315"/>
        </Transforms>
        <DigestMethod Algorithm="http://www.w3.org/2001/04/xmldsig-more#sha384"/>
        <DigestValue>wql02vktlYWnzesj7K+BdWOQShbwl2vgR5m8bBppupGi5L+YfQtqaIWZhJBk+O6s</DigestValue>
      </Reference>
      <Reference URI="/ppt/media/image1.png?ContentType=image/png">
        <DigestMethod Algorithm="http://www.w3.org/2001/04/xmldsig-more#sha384"/>
        <DigestValue>3w/gWVnOS1nurR07w04xlpELRj8iHLgK8+h5sd6MnGtCjN8tquZZRoPIrHQmFx6g</DigestValue>
      </Reference>
      <Reference URI="/ppt/media/image2.png?ContentType=image/png">
        <DigestMethod Algorithm="http://www.w3.org/2001/04/xmldsig-more#sha384"/>
        <DigestValue>CMbo4qr/vPxYFEbUsVwA9gyicP2bTDWL8qfYlpowfAP9CmrQPXD0iQm1H+dR/2aq</DigestValue>
      </Reference>
      <Reference URI="/ppt/media/image3.png?ContentType=image/png">
        <DigestMethod Algorithm="http://www.w3.org/2001/04/xmldsig-more#sha384"/>
        <DigestValue>fkw1w+nXtaYVxIp+vO+RUShVLgmuZ2Rcfz/bL4BoUHsGK2zZypYN/iDySVOJp9tS</DigestValue>
      </Reference>
      <Reference URI="/ppt/presentation.xml?ContentType=application/vnd.openxmlformats-officedocument.presentationml.presentation.main+xml">
        <DigestMethod Algorithm="http://www.w3.org/2001/04/xmldsig-more#sha384"/>
        <DigestValue>Ne8XPIrQ/528CQ7nGhX0WOZBKa5db+fiMvxvL0CQ9bRGYIIBZOM8KLloWQjxM5Ea</DigestValue>
      </Reference>
      <Reference URI="/ppt/presProps.xml?ContentType=application/vnd.openxmlformats-officedocument.presentationml.presProps+xml">
        <DigestMethod Algorithm="http://www.w3.org/2001/04/xmldsig-more#sha384"/>
        <DigestValue>lIgd1ZmXMAEqE5xDCbCLumNPNLMuIKcNshK2tbTUXynCHR8U6Gg9mf6/CmcNVoci</DigestValue>
      </Reference>
      <Reference URI="/ppt/slideLayouts/_rels/slideLayout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vXKY0l3kETR8Vc6sgq2XNne1/lKbiPCcvpVE+FibNlzcd0qcGOU3VnRHzlPx0D37</DigestValue>
      </Reference>
      <Reference URI="/ppt/slideLayouts/_rels/slideLayout10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vXKY0l3kETR8Vc6sgq2XNne1/lKbiPCcvpVE+FibNlzcd0qcGOU3VnRHzlPx0D37</DigestValue>
      </Reference>
      <Reference URI="/ppt/slideLayouts/_rels/slideLayout1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vXKY0l3kETR8Vc6sgq2XNne1/lKbiPCcvpVE+FibNlzcd0qcGOU3VnRHzlPx0D37</DigestValue>
      </Reference>
      <Reference URI="/ppt/slideLayouts/_rels/slideLayout12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q+6iS7iT4muaXgnDhOclSgpVjh2cbJwBktD7a/kn5Kp2yUoPR5u7ZrjaysThq9xP</DigestValue>
      </Reference>
      <Reference URI="/ppt/slideLayouts/_rels/slideLayout13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q+6iS7iT4muaXgnDhOclSgpVjh2cbJwBktD7a/kn5Kp2yUoPR5u7ZrjaysThq9xP</DigestValue>
      </Reference>
      <Reference URI="/ppt/slideLayouts/_rels/slideLayout14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q+6iS7iT4muaXgnDhOclSgpVjh2cbJwBktD7a/kn5Kp2yUoPR5u7ZrjaysThq9xP</DigestValue>
      </Reference>
      <Reference URI="/ppt/slideLayouts/_rels/slideLayout15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q+6iS7iT4muaXgnDhOclSgpVjh2cbJwBktD7a/kn5Kp2yUoPR5u7ZrjaysThq9xP</DigestValue>
      </Reference>
      <Reference URI="/ppt/slideLayouts/_rels/slideLayout16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q+6iS7iT4muaXgnDhOclSgpVjh2cbJwBktD7a/kn5Kp2yUoPR5u7ZrjaysThq9xP</DigestValue>
      </Reference>
      <Reference URI="/ppt/slideLayouts/_rels/slideLayout17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q+6iS7iT4muaXgnDhOclSgpVjh2cbJwBktD7a/kn5Kp2yUoPR5u7ZrjaysThq9xP</DigestValue>
      </Reference>
      <Reference URI="/ppt/slideLayouts/_rels/slideLayout18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q+6iS7iT4muaXgnDhOclSgpVjh2cbJwBktD7a/kn5Kp2yUoPR5u7ZrjaysThq9xP</DigestValue>
      </Reference>
      <Reference URI="/ppt/slideLayouts/_rels/slideLayout19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q+6iS7iT4muaXgnDhOclSgpVjh2cbJwBktD7a/kn5Kp2yUoPR5u7ZrjaysThq9xP</DigestValue>
      </Reference>
      <Reference URI="/ppt/slideLayouts/_rels/slideLayout2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vXKY0l3kETR8Vc6sgq2XNne1/lKbiPCcvpVE+FibNlzcd0qcGOU3VnRHzlPx0D37</DigestValue>
      </Reference>
      <Reference URI="/ppt/slideLayouts/_rels/slideLayout20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q+6iS7iT4muaXgnDhOclSgpVjh2cbJwBktD7a/kn5Kp2yUoPR5u7ZrjaysThq9xP</DigestValue>
      </Reference>
      <Reference URI="/ppt/slideLayouts/_rels/slideLayout2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q+6iS7iT4muaXgnDhOclSgpVjh2cbJwBktD7a/kn5Kp2yUoPR5u7ZrjaysThq9xP</DigestValue>
      </Reference>
      <Reference URI="/ppt/slideLayouts/_rels/slideLayout22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q+6iS7iT4muaXgnDhOclSgpVjh2cbJwBktD7a/kn5Kp2yUoPR5u7ZrjaysThq9xP</DigestValue>
      </Reference>
      <Reference URI="/ppt/slideLayouts/_rels/slideLayout3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vXKY0l3kETR8Vc6sgq2XNne1/lKbiPCcvpVE+FibNlzcd0qcGOU3VnRHzlPx0D37</DigestValue>
      </Reference>
      <Reference URI="/ppt/slideLayouts/_rels/slideLayout4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vXKY0l3kETR8Vc6sgq2XNne1/lKbiPCcvpVE+FibNlzcd0qcGOU3VnRHzlPx0D37</DigestValue>
      </Reference>
      <Reference URI="/ppt/slideLayouts/_rels/slideLayout5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vXKY0l3kETR8Vc6sgq2XNne1/lKbiPCcvpVE+FibNlzcd0qcGOU3VnRHzlPx0D37</DigestValue>
      </Reference>
      <Reference URI="/ppt/slideLayouts/_rels/slideLayout6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vXKY0l3kETR8Vc6sgq2XNne1/lKbiPCcvpVE+FibNlzcd0qcGOU3VnRHzlPx0D37</DigestValue>
      </Reference>
      <Reference URI="/ppt/slideLayouts/_rels/slideLayout7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vXKY0l3kETR8Vc6sgq2XNne1/lKbiPCcvpVE+FibNlzcd0qcGOU3VnRHzlPx0D37</DigestValue>
      </Reference>
      <Reference URI="/ppt/slideLayouts/_rels/slideLayout8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vXKY0l3kETR8Vc6sgq2XNne1/lKbiPCcvpVE+FibNlzcd0qcGOU3VnRHzlPx0D37</DigestValue>
      </Reference>
      <Reference URI="/ppt/slideLayouts/_rels/slideLayout9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vXKY0l3kETR8Vc6sgq2XNne1/lKbiPCcvpVE+FibNlzcd0qcGOU3VnRHzlPx0D37</DigestValue>
      </Reference>
      <Reference URI="/ppt/slideLayouts/slideLayout1.xml?ContentType=application/vnd.openxmlformats-officedocument.presentationml.slideLayout+xml">
        <DigestMethod Algorithm="http://www.w3.org/2001/04/xmldsig-more#sha384"/>
        <DigestValue>4fFByoDqxc+w/+6DmM0VjyvZ96+/rJq3b6VhsYPmkKdkOjeD9KX5OAQBzFCmyHb2</DigestValue>
      </Reference>
      <Reference URI="/ppt/slideLayouts/slideLayout10.xml?ContentType=application/vnd.openxmlformats-officedocument.presentationml.slideLayout+xml">
        <DigestMethod Algorithm="http://www.w3.org/2001/04/xmldsig-more#sha384"/>
        <DigestValue>rXypJMms/kWbzXIM446KykzOmFGyNLT5m/xqQNrCiaHIO9rQrnePSvoj/JSvcAes</DigestValue>
      </Reference>
      <Reference URI="/ppt/slideLayouts/slideLayout11.xml?ContentType=application/vnd.openxmlformats-officedocument.presentationml.slideLayout+xml">
        <DigestMethod Algorithm="http://www.w3.org/2001/04/xmldsig-more#sha384"/>
        <DigestValue>nBDmApEQxQzO4PR9LbzcRIJ1r/dqcBE9hihYJyF6n1qgW530AL74STupR8gpPhKs</DigestValue>
      </Reference>
      <Reference URI="/ppt/slideLayouts/slideLayout12.xml?ContentType=application/vnd.openxmlformats-officedocument.presentationml.slideLayout+xml">
        <DigestMethod Algorithm="http://www.w3.org/2001/04/xmldsig-more#sha384"/>
        <DigestValue>tqoZci6g/hDogSnpGoV74A0Aj1vht6b9BbcyKgbjrhqu+Ruhjhnl2wH4VjEXfZm2</DigestValue>
      </Reference>
      <Reference URI="/ppt/slideLayouts/slideLayout13.xml?ContentType=application/vnd.openxmlformats-officedocument.presentationml.slideLayout+xml">
        <DigestMethod Algorithm="http://www.w3.org/2001/04/xmldsig-more#sha384"/>
        <DigestValue>xSa6MO5M/hY6OHic+ocu4+9QlmCkWe4Ec+JVJTc69YrVL567hAWkfJzIE3OUtn6s</DigestValue>
      </Reference>
      <Reference URI="/ppt/slideLayouts/slideLayout14.xml?ContentType=application/vnd.openxmlformats-officedocument.presentationml.slideLayout+xml">
        <DigestMethod Algorithm="http://www.w3.org/2001/04/xmldsig-more#sha384"/>
        <DigestValue>vh+1Qh/ocWliOr7sLVkyy7CsYQ+EXfFn9mHi/q84zF3Vrxg6hU7R1SQufvTjO6yx</DigestValue>
      </Reference>
      <Reference URI="/ppt/slideLayouts/slideLayout15.xml?ContentType=application/vnd.openxmlformats-officedocument.presentationml.slideLayout+xml">
        <DigestMethod Algorithm="http://www.w3.org/2001/04/xmldsig-more#sha384"/>
        <DigestValue>LborNEAFCRIEcCOQxkmj0ugOAm31hMVY+jlZy0W1mt8OVpNPTqhka5ETqSBQOi53</DigestValue>
      </Reference>
      <Reference URI="/ppt/slideLayouts/slideLayout16.xml?ContentType=application/vnd.openxmlformats-officedocument.presentationml.slideLayout+xml">
        <DigestMethod Algorithm="http://www.w3.org/2001/04/xmldsig-more#sha384"/>
        <DigestValue>aecDLVfzXvgZmNld0a5V1mn9RKQdfZcLbPUSALT7fYhKrEP5TEDGrZghB6AwVPNg</DigestValue>
      </Reference>
      <Reference URI="/ppt/slideLayouts/slideLayout17.xml?ContentType=application/vnd.openxmlformats-officedocument.presentationml.slideLayout+xml">
        <DigestMethod Algorithm="http://www.w3.org/2001/04/xmldsig-more#sha384"/>
        <DigestValue>BDuCZFplDMBhTfZFqlore5C2ZP59n0ij0VZhJnj24KRGeB8tsSzrDnV3KB0QzS4J</DigestValue>
      </Reference>
      <Reference URI="/ppt/slideLayouts/slideLayout18.xml?ContentType=application/vnd.openxmlformats-officedocument.presentationml.slideLayout+xml">
        <DigestMethod Algorithm="http://www.w3.org/2001/04/xmldsig-more#sha384"/>
        <DigestValue>Dtz7QHcg1zGTlrJRJuwMCmSFfJL6b4jR2Gg+XrxWPZNlzRFIN+nsWslaQU9fGDZ1</DigestValue>
      </Reference>
      <Reference URI="/ppt/slideLayouts/slideLayout19.xml?ContentType=application/vnd.openxmlformats-officedocument.presentationml.slideLayout+xml">
        <DigestMethod Algorithm="http://www.w3.org/2001/04/xmldsig-more#sha384"/>
        <DigestValue>5BnazN8iB3GkFWxNVPeuVKXs7uU9XDcglFrowuL6Lw0levuepUO+CGW5GFq7dMZP</DigestValue>
      </Reference>
      <Reference URI="/ppt/slideLayouts/slideLayout2.xml?ContentType=application/vnd.openxmlformats-officedocument.presentationml.slideLayout+xml">
        <DigestMethod Algorithm="http://www.w3.org/2001/04/xmldsig-more#sha384"/>
        <DigestValue>4PhyZYc6/aXsapdv2ThEj9/ApTQQxdGbGhcZnH4oK8SMYnTftJdChGX0Z4Wpxuax</DigestValue>
      </Reference>
      <Reference URI="/ppt/slideLayouts/slideLayout20.xml?ContentType=application/vnd.openxmlformats-officedocument.presentationml.slideLayout+xml">
        <DigestMethod Algorithm="http://www.w3.org/2001/04/xmldsig-more#sha384"/>
        <DigestValue>g6bF+7gSc2wmVFCNplrogJUjnQczIbyDsL/LOA9Vq7b8/hRbzvcbmJ7qy21FrHaH</DigestValue>
      </Reference>
      <Reference URI="/ppt/slideLayouts/slideLayout21.xml?ContentType=application/vnd.openxmlformats-officedocument.presentationml.slideLayout+xml">
        <DigestMethod Algorithm="http://www.w3.org/2001/04/xmldsig-more#sha384"/>
        <DigestValue>n9I7GX2OJpOgDYhE9Q+xrIyKDu+xG/BY+DbBcWm8pemuqqPpI5bVEqdsex99JYLW</DigestValue>
      </Reference>
      <Reference URI="/ppt/slideLayouts/slideLayout22.xml?ContentType=application/vnd.openxmlformats-officedocument.presentationml.slideLayout+xml">
        <DigestMethod Algorithm="http://www.w3.org/2001/04/xmldsig-more#sha384"/>
        <DigestValue>/2uU4hh+tG87z8hm7c/uJoG4NkPR0qTfMYLF8CqGGOCEjeXQ3WdqJu5BY4g/Kc2Q</DigestValue>
      </Reference>
      <Reference URI="/ppt/slideLayouts/slideLayout3.xml?ContentType=application/vnd.openxmlformats-officedocument.presentationml.slideLayout+xml">
        <DigestMethod Algorithm="http://www.w3.org/2001/04/xmldsig-more#sha384"/>
        <DigestValue>bWpN3/46+TYwKcE/6C7L6EbSA6X7r3lGNiAxsK1QYM3ZSS/gYM3iVQcqK4CO3Hu3</DigestValue>
      </Reference>
      <Reference URI="/ppt/slideLayouts/slideLayout4.xml?ContentType=application/vnd.openxmlformats-officedocument.presentationml.slideLayout+xml">
        <DigestMethod Algorithm="http://www.w3.org/2001/04/xmldsig-more#sha384"/>
        <DigestValue>EzrMJSCmTf0LukBs2a5zOLQl+4K+11i6Zl7vU3BpNpmvkjpv5/X2jo6iv7yPI65O</DigestValue>
      </Reference>
      <Reference URI="/ppt/slideLayouts/slideLayout5.xml?ContentType=application/vnd.openxmlformats-officedocument.presentationml.slideLayout+xml">
        <DigestMethod Algorithm="http://www.w3.org/2001/04/xmldsig-more#sha384"/>
        <DigestValue>1LL9AJaYsIPhaBoitZp2Z90q7b7MA4koha9Srk9ER5ES40/n1AHsh57Fqm6XU/79</DigestValue>
      </Reference>
      <Reference URI="/ppt/slideLayouts/slideLayout6.xml?ContentType=application/vnd.openxmlformats-officedocument.presentationml.slideLayout+xml">
        <DigestMethod Algorithm="http://www.w3.org/2001/04/xmldsig-more#sha384"/>
        <DigestValue>wMXAc/3+MvNcQWRPWKnmC6hqEWO6tvSbC22/Fu5Ck5z+haV/JSEtznXLOh0pOBLy</DigestValue>
      </Reference>
      <Reference URI="/ppt/slideLayouts/slideLayout7.xml?ContentType=application/vnd.openxmlformats-officedocument.presentationml.slideLayout+xml">
        <DigestMethod Algorithm="http://www.w3.org/2001/04/xmldsig-more#sha384"/>
        <DigestValue>MkGftPYDMAsIAmZgnfL4JfkRGTBtMnBaN8GiZp98oqiybqRHzyhc9BDziwGcVSrH</DigestValue>
      </Reference>
      <Reference URI="/ppt/slideLayouts/slideLayout8.xml?ContentType=application/vnd.openxmlformats-officedocument.presentationml.slideLayout+xml">
        <DigestMethod Algorithm="http://www.w3.org/2001/04/xmldsig-more#sha384"/>
        <DigestValue>ZzUTvD7B2cgF0n+kwIpVvDK4/wQ0IZw3b+K5U5tIHvzeYst3P6MhWXwC0BxNFxMI</DigestValue>
      </Reference>
      <Reference URI="/ppt/slideLayouts/slideLayout9.xml?ContentType=application/vnd.openxmlformats-officedocument.presentationml.slideLayout+xml">
        <DigestMethod Algorithm="http://www.w3.org/2001/04/xmldsig-more#sha384"/>
        <DigestValue>9mrYYFCJw5qlhdh/HoXgLFxMgSv4GNC8K/VvHqb8UL6g8dLD22SIs1o4MJEXBago</DigestValue>
      </Reference>
      <Reference URI="/ppt/slideMasters/_rels/slideMaster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  <mdssi:RelationshipReference xmlns:mdssi="http://schemas.openxmlformats.org/package/2006/digital-signature" SourceId="rId11"/>
            <mdssi:RelationshipReference xmlns:mdssi="http://schemas.openxmlformats.org/package/2006/digital-signature" SourceId="rId5"/>
            <mdssi:RelationshipReference xmlns:mdssi="http://schemas.openxmlformats.org/package/2006/digital-signature" SourceId="rId10"/>
            <mdssi:RelationshipReference xmlns:mdssi="http://schemas.openxmlformats.org/package/2006/digital-signature" SourceId="rId4"/>
            <mdssi:RelationshipReference xmlns:mdssi="http://schemas.openxmlformats.org/package/2006/digital-signature" SourceId="rId9"/>
            <mdssi:RelationshipReference xmlns:mdssi="http://schemas.openxmlformats.org/package/2006/digital-signature" SourceId="rId8"/>
            <mdssi:RelationshipReference xmlns:mdssi="http://schemas.openxmlformats.org/package/2006/digital-signature" SourceId="rId3"/>
            <mdssi:RelationshipReference xmlns:mdssi="http://schemas.openxmlformats.org/package/2006/digital-signature" SourceId="rId7"/>
            <mdssi:RelationshipReference xmlns:mdssi="http://schemas.openxmlformats.org/package/2006/digital-signature" SourceId="rId12"/>
          </Transform>
          <Transform Algorithm="http://www.w3.org/TR/2001/REC-xml-c14n-20010315"/>
        </Transforms>
        <DigestMethod Algorithm="http://www.w3.org/2001/04/xmldsig-more#sha384"/>
        <DigestValue>47ZJuK8ikC1eoQBhAP2kn50k7c4+/v2BvYxSahNLv8Kg5z7ff8LPtrVHaVAuIS5G</DigestValue>
      </Reference>
      <Reference URI="/ppt/slideMasters/_rels/slideMaster2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  <mdssi:RelationshipReference xmlns:mdssi="http://schemas.openxmlformats.org/package/2006/digital-signature" SourceId="rId11"/>
            <mdssi:RelationshipReference xmlns:mdssi="http://schemas.openxmlformats.org/package/2006/digital-signature" SourceId="rId5"/>
            <mdssi:RelationshipReference xmlns:mdssi="http://schemas.openxmlformats.org/package/2006/digital-signature" SourceId="rId10"/>
            <mdssi:RelationshipReference xmlns:mdssi="http://schemas.openxmlformats.org/package/2006/digital-signature" SourceId="rId4"/>
            <mdssi:RelationshipReference xmlns:mdssi="http://schemas.openxmlformats.org/package/2006/digital-signature" SourceId="rId9"/>
            <mdssi:RelationshipReference xmlns:mdssi="http://schemas.openxmlformats.org/package/2006/digital-signature" SourceId="rId8"/>
            <mdssi:RelationshipReference xmlns:mdssi="http://schemas.openxmlformats.org/package/2006/digital-signature" SourceId="rId3"/>
            <mdssi:RelationshipReference xmlns:mdssi="http://schemas.openxmlformats.org/package/2006/digital-signature" SourceId="rId7"/>
            <mdssi:RelationshipReference xmlns:mdssi="http://schemas.openxmlformats.org/package/2006/digital-signature" SourceId="rId12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mISB18KENxUP8enwL8kWU/JGjhkonT3Y/qGI37/JrTTSkJjYSTy/lgBvNquVDb0p</DigestValue>
      </Reference>
      <Reference URI="/ppt/slideMasters/slideMaster1.xml?ContentType=application/vnd.openxmlformats-officedocument.presentationml.slideMaster+xml">
        <DigestMethod Algorithm="http://www.w3.org/2001/04/xmldsig-more#sha384"/>
        <DigestValue>M7koemMndxX6WMMVef1j8kLToY/zkeY73EG1JzT0DEHD90YE2M21ccdBehRdd19E</DigestValue>
      </Reference>
      <Reference URI="/ppt/slideMasters/slideMaster2.xml?ContentType=application/vnd.openxmlformats-officedocument.presentationml.slideMaster+xml">
        <DigestMethod Algorithm="http://www.w3.org/2001/04/xmldsig-more#sha384"/>
        <DigestValue>QuBXbTfogNis9DlI7SJi5NmhHd1OJQrL0cL5TLnPBtpHqN7fSSSrA2V2tPYBxs6B</DigestValue>
      </Reference>
      <Reference URI="/ppt/slides/_rels/slide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QnkgEE8Hn8k0A1KvNrsua2cw/5Dt+vaYCQY9/lk+Erfip55RIGI2W4M5VRInTCsb</DigestValue>
      </Reference>
      <Reference URI="/ppt/slides/_rels/slide10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1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12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13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14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15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16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17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AvoK3ALLBATAyd8EweU13U8GWZ9UZW5S8F3BV4eCsX2b0lg880WQgIJgmsY+bKN9</DigestValue>
      </Reference>
      <Reference URI="/ppt/slides/_rels/slide18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bi9vKcZUEtt4FcvM4PERZ7EXdkYcAno4r+hITMZ8cn31Hrp5mrG78nGAQglM5pSP</DigestValue>
      </Reference>
      <Reference URI="/ppt/slides/_rels/slide19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2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20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2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3PCBd/7D21+U+BoLQJmtUpgiN14LtjTvnkbhOaAo+EgiN4H7ESArlancsZSSVrRv</DigestValue>
      </Reference>
      <Reference URI="/ppt/slides/_rels/slide22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23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24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25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26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27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28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29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3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4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5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6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7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8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_rels/slide9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ZKjue2dCKZIZjWOn0IfZysBt96pOFXWf7VjMEZgKIqpRM7gWuxBQpYFKH3oGljHV</DigestValue>
      </Reference>
      <Reference URI="/ppt/slides/slide1.xml?ContentType=application/vnd.openxmlformats-officedocument.presentationml.slide+xml">
        <DigestMethod Algorithm="http://www.w3.org/2001/04/xmldsig-more#sha384"/>
        <DigestValue>/K5NxnB6daPiQkm0Ob40n6fKjZg6gp3Xegbfft8MvNbHCUqQtABax3MZVYQlTJJJ</DigestValue>
      </Reference>
      <Reference URI="/ppt/slides/slide10.xml?ContentType=application/vnd.openxmlformats-officedocument.presentationml.slide+xml">
        <DigestMethod Algorithm="http://www.w3.org/2001/04/xmldsig-more#sha384"/>
        <DigestValue>XrrjYDcSxJFdfutQNhFSp+nkmVlgC+zW2OSYr/RjOT/3syiF7NlYB03BtoBbVK4Z</DigestValue>
      </Reference>
      <Reference URI="/ppt/slides/slide11.xml?ContentType=application/vnd.openxmlformats-officedocument.presentationml.slide+xml">
        <DigestMethod Algorithm="http://www.w3.org/2001/04/xmldsig-more#sha384"/>
        <DigestValue>VgGfxt6dbWwEIKkZkyNkAtvfoh4XNI41E+urGRjcOsqh3MOAwkFMIw6FunM1+8ot</DigestValue>
      </Reference>
      <Reference URI="/ppt/slides/slide12.xml?ContentType=application/vnd.openxmlformats-officedocument.presentationml.slide+xml">
        <DigestMethod Algorithm="http://www.w3.org/2001/04/xmldsig-more#sha384"/>
        <DigestValue>bGEDoZyGqlPeXz2Ud9rf7u0ptb3eIu7NDLwR6PEjzbLUGYvV6RyTiVWe3NGKQ8eX</DigestValue>
      </Reference>
      <Reference URI="/ppt/slides/slide13.xml?ContentType=application/vnd.openxmlformats-officedocument.presentationml.slide+xml">
        <DigestMethod Algorithm="http://www.w3.org/2001/04/xmldsig-more#sha384"/>
        <DigestValue>3kTNRK9AZk48w5NYyvW7yR/1AFt6wSrWsZ5dSEXcYyoGLxDDCTBMtn/0RjAnnTKz</DigestValue>
      </Reference>
      <Reference URI="/ppt/slides/slide14.xml?ContentType=application/vnd.openxmlformats-officedocument.presentationml.slide+xml">
        <DigestMethod Algorithm="http://www.w3.org/2001/04/xmldsig-more#sha384"/>
        <DigestValue>z8ZdBGf7KX/cDGoGbmLmq7LS5tkOtelJo0CPe5qlQxmYcnKkxpXNiL7IFwq4rH51</DigestValue>
      </Reference>
      <Reference URI="/ppt/slides/slide15.xml?ContentType=application/vnd.openxmlformats-officedocument.presentationml.slide+xml">
        <DigestMethod Algorithm="http://www.w3.org/2001/04/xmldsig-more#sha384"/>
        <DigestValue>iyOhGRQ/8U5Xav1be5wT5x+OevadUR2lcBSso+0RtCPUh4Ffy7uNgjpLZX2OlxrN</DigestValue>
      </Reference>
      <Reference URI="/ppt/slides/slide16.xml?ContentType=application/vnd.openxmlformats-officedocument.presentationml.slide+xml">
        <DigestMethod Algorithm="http://www.w3.org/2001/04/xmldsig-more#sha384"/>
        <DigestValue>muP/T3AMvwkb4B4+OXRyOXPslmvV0VF/oQshvXvrW7mqRnFfOpmrYrG3jb0OsKr1</DigestValue>
      </Reference>
      <Reference URI="/ppt/slides/slide17.xml?ContentType=application/vnd.openxmlformats-officedocument.presentationml.slide+xml">
        <DigestMethod Algorithm="http://www.w3.org/2001/04/xmldsig-more#sha384"/>
        <DigestValue>S4BDmCraHB3lu++MKPuNWp8PbTqOr/+hYR0KWFv6IW6SaT2JCTGjKnE7wgV3sZA8</DigestValue>
      </Reference>
      <Reference URI="/ppt/slides/slide18.xml?ContentType=application/vnd.openxmlformats-officedocument.presentationml.slide+xml">
        <DigestMethod Algorithm="http://www.w3.org/2001/04/xmldsig-more#sha384"/>
        <DigestValue>drYBYXAW0VnmX4Ny8zjvvSre5sxKoMg/O5t3XSqfzyluLU5oc5Co7XrzwovlpRtx</DigestValue>
      </Reference>
      <Reference URI="/ppt/slides/slide19.xml?ContentType=application/vnd.openxmlformats-officedocument.presentationml.slide+xml">
        <DigestMethod Algorithm="http://www.w3.org/2001/04/xmldsig-more#sha384"/>
        <DigestValue>NlUlzGQN5TUhCO7ZFE7Zg/3aX5mH36F+mpFaX1mWWybSbEQgwi1X+zA8KvFiJz9E</DigestValue>
      </Reference>
      <Reference URI="/ppt/slides/slide2.xml?ContentType=application/vnd.openxmlformats-officedocument.presentationml.slide+xml">
        <DigestMethod Algorithm="http://www.w3.org/2001/04/xmldsig-more#sha384"/>
        <DigestValue>WUvplUnsZPrSrMMLsmxAc5yqh2592K71VBsec1BiTSvxdp68g8y40voWjY1U9X7T</DigestValue>
      </Reference>
      <Reference URI="/ppt/slides/slide20.xml?ContentType=application/vnd.openxmlformats-officedocument.presentationml.slide+xml">
        <DigestMethod Algorithm="http://www.w3.org/2001/04/xmldsig-more#sha384"/>
        <DigestValue>2iG4+INuSGwHz1fXCfj2yf5Rdxoos9WseVIZm7bZh/Lai/k4jWUS57bCaGMhyb35</DigestValue>
      </Reference>
      <Reference URI="/ppt/slides/slide21.xml?ContentType=application/vnd.openxmlformats-officedocument.presentationml.slide+xml">
        <DigestMethod Algorithm="http://www.w3.org/2001/04/xmldsig-more#sha384"/>
        <DigestValue>rHO3i21/d3OlnoxJDETP7Qw5RnNlHD7YPwY+l2iRxl3jzTbjgWRX6eD5dQDfQKcv</DigestValue>
      </Reference>
      <Reference URI="/ppt/slides/slide22.xml?ContentType=application/vnd.openxmlformats-officedocument.presentationml.slide+xml">
        <DigestMethod Algorithm="http://www.w3.org/2001/04/xmldsig-more#sha384"/>
        <DigestValue>ibnbikWa45AJJXRqikApUBQhw/gcwrd3m9aqcqDlUsNHQV+W7hy/CidWQkoWAtDK</DigestValue>
      </Reference>
      <Reference URI="/ppt/slides/slide23.xml?ContentType=application/vnd.openxmlformats-officedocument.presentationml.slide+xml">
        <DigestMethod Algorithm="http://www.w3.org/2001/04/xmldsig-more#sha384"/>
        <DigestValue>DujLMzuY4gLHy9I4yRtzp/SqHR6m0KSGhBD4BNamu6K6rXWWWUpr/fA/6Tgp2kUG</DigestValue>
      </Reference>
      <Reference URI="/ppt/slides/slide24.xml?ContentType=application/vnd.openxmlformats-officedocument.presentationml.slide+xml">
        <DigestMethod Algorithm="http://www.w3.org/2001/04/xmldsig-more#sha384"/>
        <DigestValue>fkaixQBzoFk206dnxa43jl3ESc+2H8Nc4+PfG4P18UlIb/WiBtt2TlLp4wk3OhKt</DigestValue>
      </Reference>
      <Reference URI="/ppt/slides/slide25.xml?ContentType=application/vnd.openxmlformats-officedocument.presentationml.slide+xml">
        <DigestMethod Algorithm="http://www.w3.org/2001/04/xmldsig-more#sha384"/>
        <DigestValue>fFvpLzqz7IPH1gxSRB94MZk/cSwnySRJ2I5DugBGjd4SdNEftG7XWTpdo3jXWlvn</DigestValue>
      </Reference>
      <Reference URI="/ppt/slides/slide26.xml?ContentType=application/vnd.openxmlformats-officedocument.presentationml.slide+xml">
        <DigestMethod Algorithm="http://www.w3.org/2001/04/xmldsig-more#sha384"/>
        <DigestValue>Lj3DF3HS/9IIe2URYvI7QAchAIaayknMzDMNcl0t4Ulp2eJkH3bpZe3DOPFcxjT3</DigestValue>
      </Reference>
      <Reference URI="/ppt/slides/slide27.xml?ContentType=application/vnd.openxmlformats-officedocument.presentationml.slide+xml">
        <DigestMethod Algorithm="http://www.w3.org/2001/04/xmldsig-more#sha384"/>
        <DigestValue>CKcOmNmtJrhQ8IQGFkXAbq0rEgh+qtUieCusvsrNRP3e7drtCDCz20HYgL9nEhQw</DigestValue>
      </Reference>
      <Reference URI="/ppt/slides/slide28.xml?ContentType=application/vnd.openxmlformats-officedocument.presentationml.slide+xml">
        <DigestMethod Algorithm="http://www.w3.org/2001/04/xmldsig-more#sha384"/>
        <DigestValue>l0bo9clfbbRA0rnB5DxNy1BSxHMtGV9l7EmvvbRaLqZiq6C3QxCcT7QC1x+rDmez</DigestValue>
      </Reference>
      <Reference URI="/ppt/slides/slide29.xml?ContentType=application/vnd.openxmlformats-officedocument.presentationml.slide+xml">
        <DigestMethod Algorithm="http://www.w3.org/2001/04/xmldsig-more#sha384"/>
        <DigestValue>qQWnF3d6eraVfRjqZi81eCzbNefqx69sQfAyjxBYoZ99uiDEQPmyXxdcDBQCvW7k</DigestValue>
      </Reference>
      <Reference URI="/ppt/slides/slide3.xml?ContentType=application/vnd.openxmlformats-officedocument.presentationml.slide+xml">
        <DigestMethod Algorithm="http://www.w3.org/2001/04/xmldsig-more#sha384"/>
        <DigestValue>OqwGhwEo76mCV63uzq820gQTSIWHqca9LyF1tEp/2dkbhztwQ8vIiq5J5Xd8hJTN</DigestValue>
      </Reference>
      <Reference URI="/ppt/slides/slide4.xml?ContentType=application/vnd.openxmlformats-officedocument.presentationml.slide+xml">
        <DigestMethod Algorithm="http://www.w3.org/2001/04/xmldsig-more#sha384"/>
        <DigestValue>5Tvh9ENQBqxwNq244ZAYktvP1da8C1vIHigqdaHMhycbf/VZK5vV473Y4kMYrMwM</DigestValue>
      </Reference>
      <Reference URI="/ppt/slides/slide5.xml?ContentType=application/vnd.openxmlformats-officedocument.presentationml.slide+xml">
        <DigestMethod Algorithm="http://www.w3.org/2001/04/xmldsig-more#sha384"/>
        <DigestValue>ratUv4f/rvXkl2WuL3E78AFyjkvjTkfHoL0h1iL6lKfRjUAwHmAONN0MITRACOSW</DigestValue>
      </Reference>
      <Reference URI="/ppt/slides/slide6.xml?ContentType=application/vnd.openxmlformats-officedocument.presentationml.slide+xml">
        <DigestMethod Algorithm="http://www.w3.org/2001/04/xmldsig-more#sha384"/>
        <DigestValue>2Lj0yFcIviSzPlSVbLKxeIwwjvKYTsaKOPxgv5batGCwm1jT44I9+lVGxd/uiAZc</DigestValue>
      </Reference>
      <Reference URI="/ppt/slides/slide7.xml?ContentType=application/vnd.openxmlformats-officedocument.presentationml.slide+xml">
        <DigestMethod Algorithm="http://www.w3.org/2001/04/xmldsig-more#sha384"/>
        <DigestValue>o+XhfBRnyzO2PDWuV1P53rhw6kp9QFvzVOXtPKevjqTiGXsHeXXTYHccnL2QgO5x</DigestValue>
      </Reference>
      <Reference URI="/ppt/slides/slide8.xml?ContentType=application/vnd.openxmlformats-officedocument.presentationml.slide+xml">
        <DigestMethod Algorithm="http://www.w3.org/2001/04/xmldsig-more#sha384"/>
        <DigestValue>VJ6ochJuEy+DVJfjA6vReib8iLrX7iMpHvUpiQjFxfTsVG6ODCG6Ra61x5+1ILEG</DigestValue>
      </Reference>
      <Reference URI="/ppt/slides/slide9.xml?ContentType=application/vnd.openxmlformats-officedocument.presentationml.slide+xml">
        <DigestMethod Algorithm="http://www.w3.org/2001/04/xmldsig-more#sha384"/>
        <DigestValue>EaVia3qlt4PO+12jPoG6ur2iHtYjwPL26G/g7SuD+QG2tyjozjT+2YEj7cBcOH0L</DigestValue>
      </Reference>
      <Reference URI="/ppt/tableStyles.xml?ContentType=application/vnd.openxmlformats-officedocument.presentationml.tableStyles+xml">
        <DigestMethod Algorithm="http://www.w3.org/2001/04/xmldsig-more#sha384"/>
        <DigestValue>gDZ57DxKyqzyv51VHoPJqpRfqFtS6zxVbdP98+ujY8s0/T3nOgXPpG6TB4aQ3KFc</DigestValue>
      </Reference>
      <Reference URI="/ppt/theme/theme1.xml?ContentType=application/vnd.openxmlformats-officedocument.theme+xml">
        <DigestMethod Algorithm="http://www.w3.org/2001/04/xmldsig-more#sha384"/>
        <DigestValue>qs3oy3MjnXw7dJlojn7tAmLu2V67n/z/Im76qfeMTBFuoWTCsUe4I771fXWZ3G5U</DigestValue>
      </Reference>
      <Reference URI="/ppt/theme/theme2.xml?ContentType=application/vnd.openxmlformats-officedocument.theme+xml">
        <DigestMethod Algorithm="http://www.w3.org/2001/04/xmldsig-more#sha384"/>
        <DigestValue>J6X8sUDLjyDe8vn99e+dhOH9py9iFlYjFT1xDQcM0WRp7IOOeBId87wLKmiCPHI8</DigestValue>
      </Reference>
      <Reference URI="/ppt/viewProps.xml?ContentType=application/vnd.openxmlformats-officedocument.presentationml.viewProps+xml">
        <DigestMethod Algorithm="http://www.w3.org/2001/04/xmldsig-more#sha384"/>
        <DigestValue>VvZejkZXE9zENf37wHLLnJtwQSsSQLrBAsoS/twySDseJueOVkYgllhYCwy00KDT</DigestValue>
      </Reference>
    </Manifest>
    <SignatureProperties>
      <SignatureProperty Id="idSignatureTime" Target="#idPackageSignature">
        <mdssi:SignatureTime xmlns:mdssi="http://schemas.openxmlformats.org/package/2006/digital-signature">
          <mdssi:Format>YYYY-MM-DDThh:mm:ssTZD</mdssi:Format>
          <mdssi:Value>2026-08-30T00:26:19Z</mdssi:Value>
        </mdssi:SignatureTime>
      </SignatureProperty>
    </SignatureProperties>
  </Object>
  <Object Id="idOfficeObject">
    <SignatureProperties>
      <SignatureProperty Id="idOfficeV1Details" Target="#idPackageSignature">
        <SignatureInfoV1 xmlns="http://schemas.microsoft.com/office/2006/digsig">
          <SetupID/>
          <SignatureText/>
          <SignatureImage/>
          <SignatureComments/>
          <WindowsVersion>10.0</WindowsVersion>
          <OfficeVersion>16.0.20326/27</OfficeVersion>
          <ApplicationVersion>16.0.20326</ApplicationVersion>
          <Monitors>1</Monitors>
          <HorizontalResolution>1920</HorizontalResolution>
          <VerticalResolution>1080</VerticalResolution>
          <ColorDepth>32</ColorDepth>
          <SignatureProviderId>{00000000-0000-0000-0000-000000000000}</SignatureProviderId>
          <SignatureProviderUrl/>
          <SignatureProviderDetails>9</SignatureProviderDetails>
          <SignatureType>1</SignatureType>
        </SignatureInfoV1>
      </SignatureProperty>
    </SignatureProperties>
  </Object>
  <Object>
    <xd:QualifyingProperties xmlns:xd="http://uri.etsi.org/01903/v1.3.2#" Target="#idPackageSignature">
      <xd:SignedProperties Id="idSignedProperties">
        <xd:SignedSignatureProperties>
          <xd:SigningTime>2026-08-30T00:26:19Z</xd:SigningTime>
          <xd:SigningCertificate>
            <xd:Cert>
              <xd:CertDigest>
                <DigestMethod Algorithm="http://www.w3.org/2001/04/xmldsig-more#sha384"/>
                <DigestValue>AAGwLZ0Mju8BR7lCmJFzSejv/Gfu6+ToSzLGusuNTd9Nzga1YrQDdyDar9Vdx84e</DigestValue>
              </xd:CertDigest>
              <xd:IssuerSerial>
                <X509IssuerName>CN=caa22cf1-c13f-437c-bafd-aa6392590931</X509IssuerName>
                <X509SerialNumber>17818523955636312980</X509SerialNumber>
              </xd:IssuerSerial>
            </xd:Cert>
          </xd:SigningCertificate>
          <xd:SignaturePolicyIdentifier>
            <xd:SignaturePolicyImplied/>
          </xd:SignaturePolicyIdentifier>
        </xd:SignedSignatureProperties>
        <xd:SignedDataObjectProperties>
          <xd:CommitmentTypeIndication>
            <xd:CommitmentTypeId>
              <xd:Identifier>http://uri.etsi.org/01903/v1.2.2#ProofOfOrigin</xd:Identifier>
              <xd:Description>Created and approved this document</xd:Description>
            </xd:CommitmentTypeId>
            <xd:AllSignedDataObjects/>
          </xd:CommitmentTypeIndication>
        </xd:SignedDataObjectProperties>
      </xd:SignedProperties>
    </xd:QualifyingProperties>
  </Object>
</Signatur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3056</Words>
  <Application>Microsoft Office PowerPoint</Application>
  <PresentationFormat>Custom</PresentationFormat>
  <Paragraphs>375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Cambria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2026-08-29T16:53:31Z</dcterms:created>
  <dcterms:modified xsi:type="dcterms:W3CDTF">2026-08-30T00:26:04Z</dcterms:modified>
  <cp:category/>
  <cp:contentStatus>Final</cp:contentStatu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MarkAsFinal">
    <vt:bool>true</vt:bool>
  </property>
</Properties>
</file>