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igs" ContentType="application/vnd.openxmlformats-package.digital-signature-origin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digital-signature/origin" Target="_xmlsignatures/origin.sigs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1488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4128" y="21488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08176" y="214884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EXECUTIVE SHOWCASE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5146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mbria"/>
              </a:rPr>
              <a:t>Tech Drawdown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03320"/>
            <a:ext cx="9692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A live market-drawdown dashboard, private-portfolio tracker &amp; retirement planner — designed, built, hardened, and documented through conversation with an AI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29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0A106"/>
                </a:solidFill>
                <a:latin typeface="Calibri"/>
              </a:rPr>
              <a:t>Version 1.0</a:t>
            </a:r>
            <a:r>
              <a:rPr sz="1300" b="0">
                <a:solidFill>
                  <a:srgbClr val="94A3B8"/>
                </a:solidFill>
                <a:latin typeface="Calibri"/>
              </a:rPr>
              <a:t>   ·   Rules-based analytics, not financial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WHY THIS MATTERS FOR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mbria"/>
              </a:rPr>
              <a:t>One real, production-grade application — built end to end in conversation.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4533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04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2E75B6"/>
                </a:solidFill>
                <a:latin typeface="Cambria"/>
              </a:rPr>
              <a:t>~1,100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290474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Calibri"/>
              </a:rPr>
              <a:t>securities monitored across six market universes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784" y="1965960"/>
            <a:ext cx="34533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2104" y="2286000"/>
            <a:ext cx="2904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D9E75"/>
                </a:solidFill>
                <a:latin typeface="Cambria"/>
              </a:rPr>
              <a:t>Zero-touch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2104" y="3246120"/>
            <a:ext cx="290474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Calibri"/>
              </a:rPr>
              <a:t>daily refresh — fully unattended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1965960"/>
            <a:ext cx="34533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9808" y="2286000"/>
            <a:ext cx="2904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E0A106"/>
                </a:solidFill>
                <a:latin typeface="Cambria"/>
              </a:rPr>
              <a:t>1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808" y="3246120"/>
            <a:ext cx="290474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Calibri"/>
              </a:rPr>
              <a:t>self-contained web page; opens anywhere, nothing to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No dev team spun up. No infrastructure stood up. A spreadsheet-and-manual-lookup problem became a self-updating system — the same pattern you can bring to client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4B4A"/>
                </a:solidFill>
                <a:latin typeface="Calibri"/>
              </a:rPr>
              <a:t>THE PROBLEM IT REPLACES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Spreadsheets couldn't keep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53384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Stale, error-prone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29413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Values and drawdowns were only as fresh as the last manual refresh; off-index holdings were mis-valued from outdated figures.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1783080"/>
            <a:ext cx="3453384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23816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3816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No single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3108960"/>
            <a:ext cx="29413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Market context, personal holdings, and retirement projections lived in separate files — hard to see the whole picture or act quickly.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783080"/>
            <a:ext cx="3453384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1520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1520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High manual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3108960"/>
            <a:ext cx="29413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Keeping everything current consumed hours every week and was easy to forget or get wrong.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mbria"/>
              </a:rPr>
              <a:t>Hours of upkeep,</a:t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Cambria"/>
              </a:rPr>
              <a:t>every week.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Manual, fragmented, and always a little out of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One always-current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8521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A single, self-updating web page that unifies three things at a glance: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Which stocks and funds are in a drawdown — and how deep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What every holding is worth at today's live prices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Whether the household is on track for retirement income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…and now: how it performs against the market, what changed overnight, and what it will pay in dividends.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2880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50608" y="20482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6517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Market drawdown &amp; trend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82880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19488" y="20482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6517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Live private portfolios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24612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50608" y="346557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4069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Retirement &amp; income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3246120"/>
            <a:ext cx="22860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19488" y="346557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40690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Fundamentals + factsheet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What it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08792" cy="131673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08792" cy="131673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233672"/>
            <a:ext cx="10908792" cy="1316736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550408"/>
            <a:ext cx="10908792" cy="65836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~1,100 securities — S&amp;P 500, Nasdaq-100, Dow, Top-100 ETFs, Thematic ETFs, Mutual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Private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95728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IRA (income focus) + Brokerage (growth focus) + a household retirement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54096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54096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Automatic daily at 9am, plus an on-demand 'Load live prices'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12464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History &amp;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712464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Rolling daily value history → benchmark vs Dow/Nasdaq/S&amp;P, drawdown timeline, change alerts, and a forward 12-month dividend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2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370832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Single self-contained web page — opens in any browser, works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Data 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029200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Holdings stay local; only ticker symbols are sent, only for public market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87568"/>
            <a:ext cx="246888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687568"/>
            <a:ext cx="7982712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Calibri"/>
              </a:rPr>
              <a:t>Integrity-gated automation — always falls back to the last good state, never blanks a holding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FEATURE · MARKET-CONTEXT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A health spectrum,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The whole universe, de-duplicated and sorted into three color-coded columns — every ticker tagged with the index it belongs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429000" cy="54864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Best performing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MRNA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077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S&amp;P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64408"/>
            <a:ext cx="2651760" cy="82296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WCBR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22776"/>
            <a:ext cx="1909267" cy="82296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97096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245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ETF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581144"/>
            <a:ext cx="1166774" cy="82296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+ top-10 · click any ticker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10312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2103120"/>
            <a:ext cx="3429000" cy="54864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1945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 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880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MU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9077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S&amp;P·NDX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264408"/>
            <a:ext cx="2651760" cy="8229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53872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MCD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S&amp;P·DOW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922776"/>
            <a:ext cx="1909267" cy="8229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197096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PBW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2245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4581144"/>
            <a:ext cx="1166774" cy="8229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5257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+ top-10 · click any ticker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10312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2103120"/>
            <a:ext cx="3429000" cy="548640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21945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Worst drawdown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80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TTD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9077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S&amp;P·NDX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264408"/>
            <a:ext cx="2651760" cy="82296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353872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FISV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S&amp;P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922776"/>
            <a:ext cx="1909267" cy="82296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197096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MSTR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2245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NDX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4581144"/>
            <a:ext cx="1166774" cy="82296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0" y="5257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+ top-10 · click any ticker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FEATURE ·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One-year charts — indices &amp; macro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99339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697480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US indices · 1-year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488289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Own-scale sparklines for the Dow, Nasdaq, S&amp;P 500 and Russell 2000 — read each index directly, not rescaled against the others. Built once, embedded, no runtime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65392" y="199339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2697480"/>
            <a:ext cx="48828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Macro &amp; commodities · 1-year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063240"/>
            <a:ext cx="488289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Oil, gold, silver, copper, rare earths (ETF proxy), the US dollar vs four major currencies, and consumer sentiment — the wider backdrop behind the portfolio, in one card. Any series the data plan gates is simply omitted; the card shows the rest.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FEATURE · PRIVATE PORTFOLIOS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Your holdings, valued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126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Market value = quantity × today's live price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IRA (income) and Brokerage (growth) tabs, each with allocation and gain/loss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guarded pricing rule rejects a corrupt quote and falls back safely — one bad number can never mis-state the portfolio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Off-index holdings priced individually, so nothing is valued from a stale figure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41148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60" y="2057400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761488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Edit a flat export — the next run re-imports it and prices new names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alibri"/>
              </a:rPr>
              <a:t>Holdings never leave the machine. Only ticker symbols go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FEATURE · RETIREMENT &amp;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Planned to a retirement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533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Two-account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2941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IRA modeled for income, Brokerage for growth — roles baked into the projection.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1783080"/>
            <a:ext cx="34533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23816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3816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3108960"/>
            <a:ext cx="2941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Household balances and sustainable income projected to your target 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783080"/>
            <a:ext cx="34533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1520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1520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Rebalance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3108960"/>
            <a:ext cx="2941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See current plan vs. a rebalance plan, with the difference called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FEATURE ·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What will it pay me, and when?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A forward 12-month dividend calendar across every holding — the question an income portfolio exists to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126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Projected annual income, forward yield on market value, and income due in the next 30 days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month-by-month chart split by account — IRA (income engine) vs Brokerage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An upcoming-payments list with exact ex-dividend, record and pay 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6126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Honest by design.  </a:t>
            </a:r>
            <a:r>
              <a:rPr sz="1200" b="0">
                <a:solidFill>
                  <a:srgbClr val="1F2937"/>
                </a:solidFill>
                <a:latin typeface="Calibri"/>
              </a:rPr>
              <a:t>Declared payments show an exact date and render green. Where the data plan gates per-symbol dates (ETFs and funds), income is estimated from yield × value, placed at month level, and labelled </a:t>
            </a:r>
            <a:r>
              <a:rPr sz="1200" b="1">
                <a:solidFill>
                  <a:srgbClr val="1F2937"/>
                </a:solidFill>
                <a:latin typeface="Calibri"/>
              </a:rPr>
              <a:t>estimated</a:t>
            </a:r>
            <a:r>
              <a:rPr sz="1200" b="0">
                <a:solidFill>
                  <a:srgbClr val="1F2937"/>
                </a:solidFill>
                <a:latin typeface="Calibri"/>
              </a:rPr>
              <a:t> — never silently faked.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03120"/>
            <a:ext cx="4114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331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Dividend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97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Projected next 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945636"/>
            <a:ext cx="274320" cy="3520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82712" y="3875228"/>
            <a:ext cx="274320" cy="4224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4464" y="3342132"/>
            <a:ext cx="274320" cy="9555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86216" y="3915461"/>
            <a:ext cx="274320" cy="38221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87968" y="3895344"/>
            <a:ext cx="274320" cy="40233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3372308"/>
            <a:ext cx="274320" cy="9253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91472" y="3935578"/>
            <a:ext cx="274320" cy="36210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93224" y="3855111"/>
            <a:ext cx="274320" cy="44256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94976" y="3392424"/>
            <a:ext cx="274320" cy="9052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396728" y="3955695"/>
            <a:ext cx="274320" cy="34198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98480" y="3885286"/>
            <a:ext cx="274320" cy="41239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000232" y="3412541"/>
            <a:ext cx="274320" cy="88513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4389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quarter-end months stack on the monthly ETFs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754880"/>
            <a:ext cx="3566160" cy="27432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4772000"/>
            <a:ext cx="338328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D9E75"/>
                </a:solidFill>
                <a:latin typeface="Calibri"/>
              </a:rPr>
              <a:t>declared</a:t>
            </a:r>
            <a:r>
              <a:rPr sz="950" b="0">
                <a:solidFill>
                  <a:srgbClr val="64748B"/>
                </a:solidFill>
                <a:latin typeface="Calibri"/>
              </a:rPr>
              <a:t>  ·  exact date    </a:t>
            </a:r>
            <a:r>
              <a:rPr sz="950" b="1">
                <a:solidFill>
                  <a:srgbClr val="E0A93B"/>
                </a:solidFill>
                <a:latin typeface="Calibri"/>
              </a:rPr>
              <a:t>estimated</a:t>
            </a:r>
            <a:r>
              <a:rPr sz="950" b="0">
                <a:solidFill>
                  <a:srgbClr val="64748B"/>
                </a:solidFill>
                <a:latin typeface="Calibri"/>
              </a:rPr>
              <a:t>  ·  month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FEATURE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Am I beating the market?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A rolling daily history turned a point-in-time snapshot into something that can answer 'versus what?' and 'since when?'.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1723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35915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48051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Portfolio vs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29000"/>
            <a:ext cx="48051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Household value indexed to 100 against the Dow, Nasdaq and S&amp;P 500, with a live alpha readout. No fabricated back-cast — the comparison accrues honestly from the day it was switched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2103120"/>
            <a:ext cx="531723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87668" y="235915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7668" y="3063240"/>
            <a:ext cx="48051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Drawdown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7668" y="3429000"/>
            <a:ext cx="48051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An underwater chart: how far the portfolio and each index sit below their own running peak over the past year, with the Correction (−10%) and Bear (−20%) bands shaded.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93B"/>
                </a:solidFill>
                <a:latin typeface="Calibri"/>
              </a:rPr>
              <a:t>FEATURE ·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What changed since yesterday?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Stop re-scanning the whole board every morning to find the two things that moved.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126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daily diff of held names: entered Bear or Correction, Golden or Death Cross, recovered, or hit a new 52-week low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Shown as a colour-coded icon beside the ticker — click it for the from→to detail and history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Listed in the automated run report, so the change is in the record too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61264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93B"/>
                </a:solidFill>
                <a:latin typeface="Calibri"/>
              </a:rPr>
              <a:t>Zero new data calls.  </a:t>
            </a:r>
            <a:r>
              <a:rPr sz="1200" b="0">
                <a:solidFill>
                  <a:srgbClr val="1F2937"/>
                </a:solidFill>
                <a:latin typeface="Calibri"/>
              </a:rPr>
              <a:t>Every field it needs is already on hand. And it is guarded by the integrity check — a corrupt price can never fabricate a Death Cross. An alert system that cries wolf once is worse than none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03120"/>
            <a:ext cx="4114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3317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Changes since yesterday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8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78913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SNOW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78913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Golden Cross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3012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25548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NVO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25548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Death Cross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7675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372182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ACHR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721824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Death Cross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2338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4188168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ASML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8816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entered Correction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7002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465451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Calibri"/>
              </a:rPr>
              <a:t>META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5451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recovered to Correction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FEATURE · 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One line implies a certainty that doesn't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A retirement projection is a distribution, not a forecast. So show the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10,000 simulated paths of household value — median plus 10th / 25th / 75th / 90th percentile bands, on a KPI tile that opens a fan chart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User controls for horizon, annual contribution and return assumptions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Seeded and reproducible — a projection that changes every time you open it is a slot machine, not a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6126480" cy="10058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No new data source.  </a:t>
            </a:r>
            <a:r>
              <a:rPr sz="1200" b="0">
                <a:solidFill>
                  <a:srgbClr val="1F2937"/>
                </a:solidFill>
                <a:latin typeface="Calibri"/>
              </a:rPr>
              <a:t>Volatility is estimated from the 52-week high/low already sitting in every row of the table. Look hard at what your data can already tell you before you go shopping for a new feed.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03120"/>
            <a:ext cx="4114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3317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Median @ year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260000"/>
            <a:ext cx="200000" cy="8000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4282000"/>
            <a:ext cx="200000" cy="3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4288000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22538" y="4152309"/>
            <a:ext cx="200000" cy="172306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22538" y="4199694"/>
            <a:ext cx="200000" cy="775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22538" y="4226462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4116" y="4044617"/>
            <a:ext cx="200000" cy="264614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64116" y="4117386"/>
            <a:ext cx="200000" cy="1190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64116" y="4164924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05694" y="3936924"/>
            <a:ext cx="200000" cy="356922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05694" y="4035078"/>
            <a:ext cx="200000" cy="16061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05694" y="4103385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7272" y="3829232"/>
            <a:ext cx="200000" cy="44923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47272" y="3952771"/>
            <a:ext cx="200000" cy="202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47272" y="4041847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88850" y="3721539"/>
            <a:ext cx="200000" cy="541538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88850" y="3870462"/>
            <a:ext cx="200000" cy="243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88850" y="3980308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30428" y="3613847"/>
            <a:ext cx="200000" cy="633846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30428" y="3788155"/>
            <a:ext cx="200000" cy="28523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30428" y="3918770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72006" y="3506155"/>
            <a:ext cx="200000" cy="726152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72006" y="3705847"/>
            <a:ext cx="200000" cy="3267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72006" y="3857231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13584" y="3398463"/>
            <a:ext cx="200000" cy="81846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13584" y="3623540"/>
            <a:ext cx="200000" cy="3683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13584" y="3795693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55162" y="3290770"/>
            <a:ext cx="200000" cy="910768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55162" y="3541232"/>
            <a:ext cx="200000" cy="4098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55162" y="3734154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96740" y="3183078"/>
            <a:ext cx="200000" cy="1003076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096740" y="3458924"/>
            <a:ext cx="200000" cy="4513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096740" y="3672616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338318" y="3075385"/>
            <a:ext cx="200000" cy="1095384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338318" y="3376616"/>
            <a:ext cx="200000" cy="49292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338318" y="3611077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579896" y="2967693"/>
            <a:ext cx="200000" cy="1187692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579896" y="3294309"/>
            <a:ext cx="200000" cy="5344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579896" y="3549539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821474" y="2860000"/>
            <a:ext cx="200000" cy="128000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821474" y="3212000"/>
            <a:ext cx="200000" cy="57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821474" y="3488000"/>
            <a:ext cx="200000" cy="24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80960" y="4700000"/>
            <a:ext cx="356616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median path · bands = 25th–75th and 10th–90th percentile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FEATURE · 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Is it actually worth what it costs?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The question the whole dashboard implies — and never answered until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126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three-stage DCF per held stock — analyst consensus, a 10-year fade, then a rebuilt steady state — shown as a fair-value strip beside the market price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Every judgement input is a user control: capex intensity, fade, terminal growth, beta, risk-free rate, equity risk premium, consensus haircut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reverse DCF reports the discount rate the market is implicitly applying to consensus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Trefis-style segment sum-of-the-parts tab values each business line separately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61264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52628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Benchmarked externally, or it doesn't ship.  </a:t>
            </a:r>
            <a:r>
              <a:rPr sz="1200" b="0">
                <a:solidFill>
                  <a:srgbClr val="1F2937"/>
                </a:solidFill>
                <a:latin typeface="Calibri"/>
              </a:rPr>
              <a:t>This model was built three times before it was right — each time ‘verified’ against the vendor's own model, which only ever proved a flawed model had been faithfully reproduced. Internal consistency is not correctness.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011680"/>
            <a:ext cx="41148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2402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Fair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743200"/>
            <a:ext cx="3383280" cy="5943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7160" y="28117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MSFT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117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$583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7160" y="3063240"/>
            <a:ext cx="310928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vs $600 independent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474720"/>
            <a:ext cx="3383280" cy="5943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7160" y="35433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NVDA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5433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$267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7160" y="3794760"/>
            <a:ext cx="310928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vs $280 independent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206240"/>
            <a:ext cx="3383280" cy="5943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7160" y="42748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AMD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2748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93B"/>
                </a:solidFill>
                <a:latin typeface="Calibri"/>
              </a:rPr>
              <a:t>segment view refused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7160" y="4526280"/>
            <a:ext cx="310928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segments overstate revenue 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983480"/>
            <a:ext cx="356616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refusing to render, with a reason, is a feature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4B4A"/>
                </a:solidFill>
                <a:latin typeface="Calibri"/>
              </a:rPr>
              <a:t>FEATURE · X-RAY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What do I actually own?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Single-name risk arrives through funds, not just through shares — and the account tabs cannot see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126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Every held ETF and mutual fund decomposed into its underlying companies, then combined with the directly held shares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duplicate-tracker check — three separate S&amp;P 500 trackers held side by side is one bet, not three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Explicit buckets for each fund's long tail, cash inside funds, and any fund not yet mapped — reconciled to the household total, to the dollar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6126480" cy="10058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4B4A"/>
                </a:solidFill>
                <a:latin typeface="Calibri"/>
              </a:rPr>
              <a:t>A look-through that hides its gaps  </a:t>
            </a:r>
            <a:r>
              <a:rPr sz="1200" b="0">
                <a:solidFill>
                  <a:srgbClr val="1F2937"/>
                </a:solidFill>
                <a:latin typeface="Calibri"/>
              </a:rPr>
              <a:t>understates the exact concentration it exists to reveal. So while any fund is unmapped, every figure is presented as a floor — ‘at least’, never a 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03120"/>
            <a:ext cx="4114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3317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True single-name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8346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NVDA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880360"/>
            <a:ext cx="91440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44200" y="2834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Calibri"/>
              </a:rPr>
              <a:t>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2918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AAPL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337560"/>
            <a:ext cx="502920" cy="13716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3337560"/>
            <a:ext cx="41148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44200" y="32918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Calibri"/>
              </a:rPr>
              <a:t>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749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MSFT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794760"/>
            <a:ext cx="365760" cy="13716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3794760"/>
            <a:ext cx="54864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44200" y="37490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Calibri"/>
              </a:rPr>
              <a:t>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206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AMZN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251960"/>
            <a:ext cx="73152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44200" y="4206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Calibri"/>
              </a:rPr>
              <a:t>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663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AVGO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709160"/>
            <a:ext cx="274320" cy="13716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1120" y="4709160"/>
            <a:ext cx="32004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44200" y="46634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Calibri"/>
              </a:rPr>
              <a:t>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937760"/>
            <a:ext cx="356616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green = shares you hold · purple = reaching you through funds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FEATURE · FUNDAMENTALS POPUP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Click any ticker — get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126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Factsheet — a plain-English summary + a vitals grid (sector, HQ, founded, employees, market cap / issuer, expense, AUM, holdings)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 data-derived “Did you know?” fun fact on every name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An 8-factor risk summary (incl. supply-chain) and an advisor scorecard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•  Cached locally, refreshed daily — fast on repeat opens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41148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2057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Apple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957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Technology · Consumer Electronics · Cupertino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6974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Calibri"/>
              </a:rPr>
              <a:t>Designs iPhone, Mac &amp; iPad plus a fast-growing Services arm; among the world's most valuable companies.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611880"/>
            <a:ext cx="3566160" cy="868680"/>
          </a:xfrm>
          <a:prstGeom prst="rect">
            <a:avLst/>
          </a:prstGeom>
          <a:solidFill>
            <a:srgbClr val="F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370332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Did you know?  </a:t>
            </a:r>
            <a:r>
              <a:rPr sz="1100" b="0">
                <a:solidFill>
                  <a:srgbClr val="1F2937"/>
                </a:solidFill>
                <a:latin typeface="Calibri"/>
              </a:rPr>
              <a:t>Founded in a garage in 1976 — now one of a handful of companies ever worth over $3 trillion.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FEATURE · RULES-BASED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Rankings you can customize —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Sector, fund/category, and growth-core rankings on a declarative rules engine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Tune weights, thresholds, and IF/THEN conditions live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Every score traces to its rules — a per-row breakdown popover explains it</a:t>
            </a:r>
          </a:p>
        </p:txBody>
      </p:sp>
      <p:pic>
        <p:nvPicPr>
          <p:cNvPr id="7" name="Picture 6" descr="08_ranking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71" y="2560320"/>
            <a:ext cx="604521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FEATURE · DAILY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Zero-touch, every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Fetch → build → guard → import → reprice → recompute → alert → project income → regenerate → publish — with a safe fallback at every rung.</a:t>
            </a:r>
          </a:p>
        </p:txBody>
      </p:sp>
      <p:pic>
        <p:nvPicPr>
          <p:cNvPr id="7" name="Picture 6" descr="04_schedule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143" y="1965960"/>
            <a:ext cx="142066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D9E75"/>
                </a:solidFill>
                <a:latin typeface="Calibri"/>
              </a:rPr>
              <a:t>FEATURE · RELIABILITY &amp;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Built to be trusted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533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Integrity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2941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Every row checked against its 52-week band; corrupt / #N/A values are suppressed and flagged with a ⚠ badge — and suppressed rows can never raise a false alert.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1783080"/>
            <a:ext cx="34533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23816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3816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Fallback ladder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3108960"/>
            <a:ext cx="2941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FMP live → workbook tail → carry-forward. A total outage degrades safely to the last good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783080"/>
            <a:ext cx="34533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1520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1520" y="274320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Never blanks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3108960"/>
            <a:ext cx="29413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Holdings, rankings, charts, history, alerts and the dividend calendar are all preserved on any failure — the dashboard never breaks.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Logging &amp; a debug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1723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35915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48051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Structured run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48051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Every daily run writes a per-run event stream, a human-readable report, and an append-only history — auto-pruned. A failed run is diagnosable after the 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2103120"/>
            <a:ext cx="531723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87668" y="235915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7668" y="3063240"/>
            <a:ext cx="48051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Opt-in debug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7668" y="3429000"/>
            <a:ext cx="48051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Enable with ?debug=1 or Shift+D (off by default). See connector calls, data provenance, cache state, and errors — with a one-click copy-report for support.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8954"/>
            <a:ext cx="10908792" cy="44344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WHY IT HOLDS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Engineering discipline the AI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Modular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 single-file app assembled from 23 concern-based modules — with a byte-for-byte golden-master guard.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5858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91890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1890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Verified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1890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Edits validated in a stubbed-DOM harness, not just a syntax check — regressions caught before publish.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87668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7668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Provider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All connector I/O behind one boundary — a provider or shape change is a one-place edit.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7414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83446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3446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Integrity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3446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Guards and safe fallbacks at every automated step — speed without fragility.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THE AI-ADOPTION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How it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00200" y="22402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7C93AB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A couple of pointed questions before each step — build the right thing, not the wrong 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3063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7C93AB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Plan + mock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9476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Show a plan and a visual mockup, agree, then build — no surprises.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78040" y="22402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7C93AB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Small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One capability per prompt, validated, then the next — reversible and traceable.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92024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66960" y="22402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3063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7C93AB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Harden + doc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9476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Guards, tests, and living docs so it's production-grade, not a demo.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C93A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C93A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DELIVERY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Baseline v1.0 is 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3108960"/>
            <a:ext cx="8714232" cy="12700"/>
          </a:xfrm>
          <a:prstGeom prst="rect">
            <a:avLst/>
          </a:prstGeom>
          <a:solidFill>
            <a:srgbClr val="E5E9F0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91056" y="29626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Cambria"/>
              </a:rPr>
              <a:t>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74036" y="3429000"/>
            <a:ext cx="86227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9-tab dashboard, live portfolios, retirement, ranking, valuation, look-through, daily automation,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05288" y="29626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28632" y="21488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Cambria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254203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0196" y="3429000"/>
            <a:ext cx="86227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Tax-lot, PDF/email, corporate actions, saved scenarios, security/CI, Morningstar FVE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What it's worth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521458" cy="2560320"/>
          </a:xfrm>
          <a:prstGeom prst="roundRect">
            <a:avLst>
              <a:gd name="adj" fmla="val 6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469936"/>
            <a:ext cx="206425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E0A106"/>
                </a:solidFill>
                <a:latin typeface="Cambria"/>
              </a:rPr>
              <a:t>Hours →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06425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weekly upkeep replaced by a zero-touch daily refresh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5858" y="2103120"/>
            <a:ext cx="2521458" cy="2560320"/>
          </a:xfrm>
          <a:prstGeom prst="roundRect">
            <a:avLst>
              <a:gd name="adj" fmla="val 6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64458" y="2469936"/>
            <a:ext cx="206425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  <a:latin typeface="Cambria"/>
              </a:rPr>
              <a:t>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4458" y="3291840"/>
            <a:ext cx="206425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holdings never leave the machine — private by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2103120"/>
            <a:ext cx="2521458" cy="2560320"/>
          </a:xfrm>
          <a:prstGeom prst="roundRect">
            <a:avLst>
              <a:gd name="adj" fmla="val 6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0236" y="2469936"/>
            <a:ext cx="206425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Cambria"/>
              </a:rPr>
              <a:t>1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3291840"/>
            <a:ext cx="206425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shareable, installs nothing, works offline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7414" y="2103120"/>
            <a:ext cx="2521458" cy="2560320"/>
          </a:xfrm>
          <a:prstGeom prst="roundRect">
            <a:avLst>
              <a:gd name="adj" fmla="val 6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6014" y="2469936"/>
            <a:ext cx="206425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E24B4A"/>
                </a:solidFill>
                <a:latin typeface="Cambria"/>
              </a:rPr>
              <a:t>Adaptable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6014" y="3291840"/>
            <a:ext cx="206425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rules, universe, and features change by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C93A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C93A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FOR YOUR CLIENT ENGAGEMENTS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The repeatable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Find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 spreadsheet-and-manual-lookup process that's stale, fragmented, and high-effort.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5858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91890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1890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Build conversationally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1890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Plan, mock, and build feature by feature — in the client's own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87668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7668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Harden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Guards, safe fallbacks, and tests so it runs unattended and never breaks.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7414" y="1783080"/>
            <a:ext cx="2521458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83446" y="2039112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3446" y="2743200"/>
            <a:ext cx="200939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Document &amp; automate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3446" y="3108960"/>
            <a:ext cx="200939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Living docs, a scheduled refresh, and observability — hand off a system, not a script.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0A106"/>
                </a:solidFill>
                <a:latin typeface="Calibri"/>
              </a:rPr>
              <a:t>AI AGENT INFRASTRUCTURE · BOB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MCP, Markdown &amp; the agent configuration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53384" cy="45720"/>
          </a:xfrm>
          <a:prstGeom prst="rect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99618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Remote HTTP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9961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Both data connectors are fully-managed remote HTTP servers — no npm install, no local process to babysit. Bigdata connects automatically. FMP binds :8080 on startup.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3087624" cy="594360"/>
          </a:xfrm>
          <a:prstGeom prst="roundRect">
            <a:avLst>
              <a:gd name="adj" fmla="val 4000"/>
            </a:avLst>
          </a:prstGeom>
          <a:solidFill>
            <a:srgbClr val="0A1D35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0A106"/>
                </a:solidFill>
                <a:latin typeface="Calibri"/>
              </a:rPr>
              <a:t>Bigdata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https://mcp.bigdata.com/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3087624" cy="594360"/>
          </a:xfrm>
          <a:prstGeom prst="roundRect">
            <a:avLst>
              <a:gd name="adj" fmla="val 4000"/>
            </a:avLst>
          </a:prstGeom>
          <a:solidFill>
            <a:srgbClr val="0A1D35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0A106"/>
                </a:solidFill>
                <a:latin typeface="Calibri"/>
              </a:rPr>
              <a:t>FMP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http://localhost:8080/mcp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7784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67784" y="1828800"/>
            <a:ext cx="3453384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96384" y="201168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6384" y="2194560"/>
            <a:ext cx="299618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Markdown instruction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384" y="2651760"/>
            <a:ext cx="29961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Agent behaviour lives in plain Markdown: AGENTS.md (invariants, pipeline rules, provider constraints), daily_refresh.md (9-step playbook), and the .bob/ rules-ask layer.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0664" y="4023360"/>
            <a:ext cx="3087624" cy="594360"/>
          </a:xfrm>
          <a:prstGeom prst="roundRect">
            <a:avLst>
              <a:gd name="adj" fmla="val 4000"/>
            </a:avLst>
          </a:prstGeom>
          <a:solidFill>
            <a:srgbClr val="0A1D35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3544" y="411480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0E7C86"/>
                </a:solidFill>
                <a:latin typeface="Calibri"/>
              </a:rPr>
              <a:t>AGENTS.md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3544" y="434340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invariants · pipeline · data-provider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0664" y="4754880"/>
            <a:ext cx="3087624" cy="594360"/>
          </a:xfrm>
          <a:prstGeom prst="roundRect">
            <a:avLst>
              <a:gd name="adj" fmla="val 4000"/>
            </a:avLst>
          </a:prstGeom>
          <a:solidFill>
            <a:srgbClr val="0A1D35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3544" y="484632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0E7C86"/>
                </a:solidFill>
                <a:latin typeface="Calibri"/>
              </a:rPr>
              <a:t>daily_refresh.md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3544" y="507492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10-step daily playbook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5488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14304F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5488" y="1828800"/>
            <a:ext cx="3453384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24088" y="201168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4088" y="2194560"/>
            <a:ext cx="299618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Env vars &amp; 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4088" y="2651760"/>
            <a:ext cx="29961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API keys never live in code. FMP_ACCESS_TOKEN and BIGDATA_API_KEY are read from .env (gitignored). mcp.json carries only the transport URL and auto-approved tool list.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8368" y="4023360"/>
            <a:ext cx="3087624" cy="594360"/>
          </a:xfrm>
          <a:prstGeom prst="roundRect">
            <a:avLst>
              <a:gd name="adj" fmla="val 4000"/>
            </a:avLst>
          </a:prstGeom>
          <a:solidFill>
            <a:srgbClr val="0A1D35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1248" y="411480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FMP_ACCESS_TOKEN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1248" y="434340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.env (gitignored)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8368" y="4754880"/>
            <a:ext cx="3087624" cy="594360"/>
          </a:xfrm>
          <a:prstGeom prst="roundRect">
            <a:avLst>
              <a:gd name="adj" fmla="val 4000"/>
            </a:avLst>
          </a:prstGeom>
          <a:solidFill>
            <a:srgbClr val="0A1D35"/>
          </a:solidFill>
          <a:ln w="12700">
            <a:solidFill>
              <a:srgbClr val="1E3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61248" y="484632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BIGDATA_API_KEY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1248" y="5074920"/>
            <a:ext cx="28133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.bob/mcp.json → x-api-key header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C93A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C93A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CODE ANALYSIS · INIT &amp;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Cambria"/>
              </a:rPr>
              <a:t>Understanding and evolving an existing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64748B"/>
                </a:solidFill>
                <a:latin typeface="Calibri"/>
              </a:rPr>
              <a:t>Bob 2.0 can read an entire repo on first open, reason about its structure, and guide migrations — not just write net-new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Tech Drawdown · Executive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6126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GetSymbolsOverview and FindSymbol map every class, function, and module across the project in seconds — no manual spelunking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FindReferencingSymbols traces all callers of any symbol, so a refactor's blast radius is known before the first edit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Init flow: Bob reads AGENTS.md, inspects src/dash/, scripts/, tests/ and builds a mental model of the codebase before answering any question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•  Migration: replace a provider, rename a constant, restructure a module — Bob proposes the diff, verifies it compiles in the stubbed-DOM harness, then ships both HTML copies in a single agent 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828800"/>
            <a:ext cx="455738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828800"/>
            <a:ext cx="4557384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920240"/>
            <a:ext cx="41001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Init  ·  first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2860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E75B6"/>
                </a:solidFill>
                <a:latin typeface="Calibri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8600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AGENTS.md + TASKS.md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6517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E75B6"/>
                </a:solidFill>
                <a:latin typeface="Calibri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5176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src/dash/ · scripts/ · tests/ · 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0175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E75B6"/>
                </a:solidFill>
                <a:latin typeface="Calibri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1752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golden-master + test suite 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38328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E75B6"/>
                </a:solidFill>
                <a:latin typeface="Calibri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38328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can answer any question about the codebase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023360"/>
            <a:ext cx="455738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0" y="4023360"/>
            <a:ext cx="4557384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4114800"/>
            <a:ext cx="41001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Migration  ·  provider swap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056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Identify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48056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FindReferencingSymbols on the old 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84632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Diff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4632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propose targeted apply_diff per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1208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21208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node --test + pytest in the same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57784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577840"/>
            <a:ext cx="3322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assemble + inject + write both HTML copies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3317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4128" y="23317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08176" y="2331720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From spreadsheet to self-updating system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E0A106"/>
                </a:solidFill>
                <a:latin typeface="Cambria"/>
              </a:rPr>
              <a:t>conversationally.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Tech Drawdown · Version 1.0 · Rules-based analytics, not financial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ecdsa-sha384"/>
    <Reference Type="http://www.w3.org/2000/09/xmldsig#Object" URI="#idPackageObject">
      <DigestMethod Algorithm="http://www.w3.org/2001/04/xmldsig-more#sha384"/>
      <DigestValue>/iLlDwc2/U2eD483Tq4olmKiKKTx7u485KcPHhVW+uFRJm6uh0k6uNV21ifBu6F+</DigestValue>
    </Reference>
    <Reference Type="http://www.w3.org/2000/09/xmldsig#Object" URI="#idOfficeObject">
      <DigestMethod Algorithm="http://www.w3.org/2001/04/xmldsig-more#sha384"/>
      <DigestValue>ORcsTLKsx8LxZq1FMwEVW+QjMiBfiBt5W9EinNcL+oxUWAHi/Epc+paZ0+XlkjeG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dsig-more#sha384"/>
      <DigestValue>IwVcCE+ygHrFEdcae0lpKB2V0IxZdfh8A0Los2Opel1Qr47zWRG+6WKKV8xn940F</DigestValue>
    </Reference>
  </SignedInfo>
  <SignatureValue>YlotBwny0Fy1acj/4oitzWcTZdlX79LmV7sUhx3M2HyyU+TmyN3IrJ2of57ro+sBH+inPlMWWPFi
USy/Ncei07fmbyl9KXdylBwkzcTSq64oRQ5Z0qf6Lr1rTLMvxtgL</SignatureValue>
  <KeyInfo>
    <X509Data>
      <X509Certificate>MIIBkTCCARagAwIBAgIJAPdIHSGNfZuUMAoGCCqGSM49BAMDMC8xLTArBgNVBAMTJGNhYTIyY2YxLWMxM2YtNDM3Yy1iYWZkLWFhNjM5MjU5MDkzMTAeFw0yNjAzMDgwMTU2MzlaFw0yNzAzMDgxMzU2MzlaMC8xLTArBgNVBAMTJGNhYTIyY2YxLWMxM2YtNDM3Yy1iYWZkLWFhNjM5MjU5MDkzMTB2MBAGByqGSM49AgEGBSuBBAAiA2IABNp6f9pfSrQcXKO+mGODiKCBvrFCgM6z6svOeFdn85eIZkMNYGiGy4qv372dsw6lUyYdMetE51bq0gc2taRfqpv74xATA8+srJCgSRF8wKRuy54sgtL8WciTs1VhOPHsaTAKBggqhkjOPQQDAwNpADBmAjEA5hZTKtauY9KNCFdXK5ZSsXmnIrEb3vm1m+GkTPdKWTDFsKMxe03DPvyHL6v5vvpnAjEAsDyuNkP5luWjdar8Nfd6yIN8WevzfJxqjLpxnT0OFiseNRTv1Xfsu9jmilU9jePZ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LqXyoR7Obg/4ueBgP4vHEvDgJw1Of/31pxr5yH6uWCIENB5OwyEPinwaaq2GV2LQ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1"/>
            <mdssi:RelationshipReference xmlns:mdssi="http://schemas.openxmlformats.org/package/2006/digital-signature" SourceId="rId34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17"/>
            <mdssi:RelationshipReference xmlns:mdssi="http://schemas.openxmlformats.org/package/2006/digital-signature" SourceId="rId25"/>
            <mdssi:RelationshipReference xmlns:mdssi="http://schemas.openxmlformats.org/package/2006/digital-signature" SourceId="rId33"/>
            <mdssi:RelationshipReference xmlns:mdssi="http://schemas.openxmlformats.org/package/2006/digital-signature" SourceId="rId2"/>
            <mdssi:RelationshipReference xmlns:mdssi="http://schemas.openxmlformats.org/package/2006/digital-signature" SourceId="rId16"/>
            <mdssi:RelationshipReference xmlns:mdssi="http://schemas.openxmlformats.org/package/2006/digital-signature" SourceId="rId20"/>
            <mdssi:RelationshipReference xmlns:mdssi="http://schemas.openxmlformats.org/package/2006/digital-signature" SourceId="rId29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24"/>
            <mdssi:RelationshipReference xmlns:mdssi="http://schemas.openxmlformats.org/package/2006/digital-signature" SourceId="rId32"/>
            <mdssi:RelationshipReference xmlns:mdssi="http://schemas.openxmlformats.org/package/2006/digital-signature" SourceId="rId5"/>
            <mdssi:RelationshipReference xmlns:mdssi="http://schemas.openxmlformats.org/package/2006/digital-signature" SourceId="rId15"/>
            <mdssi:RelationshipReference xmlns:mdssi="http://schemas.openxmlformats.org/package/2006/digital-signature" SourceId="rId23"/>
            <mdssi:RelationshipReference xmlns:mdssi="http://schemas.openxmlformats.org/package/2006/digital-signature" SourceId="rId28"/>
            <mdssi:RelationshipReference xmlns:mdssi="http://schemas.openxmlformats.org/package/2006/digital-signature" SourceId="rId10"/>
            <mdssi:RelationshipReference xmlns:mdssi="http://schemas.openxmlformats.org/package/2006/digital-signature" SourceId="rId19"/>
            <mdssi:RelationshipReference xmlns:mdssi="http://schemas.openxmlformats.org/package/2006/digital-signature" SourceId="rId31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22"/>
            <mdssi:RelationshipReference xmlns:mdssi="http://schemas.openxmlformats.org/package/2006/digital-signature" SourceId="rId27"/>
            <mdssi:RelationshipReference xmlns:mdssi="http://schemas.openxmlformats.org/package/2006/digital-signature" SourceId="rId30"/>
            <mdssi:RelationshipReference xmlns:mdssi="http://schemas.openxmlformats.org/package/2006/digital-signature" SourceId="rId8"/>
            <mdssi:RelationshipReference xmlns:mdssi="http://schemas.openxmlformats.org/package/2006/digital-signature" SourceId="rId13"/>
            <mdssi:RelationshipReference xmlns:mdssi="http://schemas.openxmlformats.org/package/2006/digital-signature" SourceId="rId18"/>
            <mdssi:RelationshipReference xmlns:mdssi="http://schemas.openxmlformats.org/package/2006/digital-signature" SourceId="rId26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dsig-more#sha384"/>
        <DigestValue>IdxJBnVA9NuhP8Iwdf10cyw/nA28jo7Iop3bU0JvebJ6fdoo3/nk0nb4NbHwR8gV</DigestValue>
      </Reference>
      <Reference URI="/ppt/media/image1.png?ContentType=image/png">
        <DigestMethod Algorithm="http://www.w3.org/2001/04/xmldsig-more#sha384"/>
        <DigestValue>3w/gWVnOS1nurR07w04xlpELRj8iHLgK8+h5sd6MnGtCjN8tquZZRoPIrHQmFx6g</DigestValue>
      </Reference>
      <Reference URI="/ppt/media/image2.png?ContentType=image/png">
        <DigestMethod Algorithm="http://www.w3.org/2001/04/xmldsig-more#sha384"/>
        <DigestValue>CMbo4qr/vPxYFEbUsVwA9gyicP2bTDWL8qfYlpowfAP9CmrQPXD0iQm1H+dR/2aq</DigestValue>
      </Reference>
      <Reference URI="/ppt/media/image3.png?ContentType=image/png">
        <DigestMethod Algorithm="http://www.w3.org/2001/04/xmldsig-more#sha384"/>
        <DigestValue>fkw1w+nXtaYVxIp+vO+RUShVLgmuZ2Rcfz/bL4BoUHsGK2zZypYN/iDySVOJp9tS</DigestValue>
      </Reference>
      <Reference URI="/ppt/presentation.xml?ContentType=application/vnd.openxmlformats-officedocument.presentationml.presentation.main+xml">
        <DigestMethod Algorithm="http://www.w3.org/2001/04/xmldsig-more#sha384"/>
        <DigestValue>o072Ubw+oLd8cOLHgixjJyMXJcfbnc3PR6mnX+/bs710PIbZjCiy0JBDVQt67Hdb</DigestValue>
      </Reference>
      <Reference URI="/ppt/presProps.xml?ContentType=application/vnd.openxmlformats-officedocument.presentationml.presProps+xml">
        <DigestMethod Algorithm="http://www.w3.org/2001/04/xmldsig-more#sha384"/>
        <DigestValue>lIgd1ZmXMAEqE5xDCbCLumNPNLMuIKcNshK2tbTUXynCHR8U6Gg9mf6/CmcNVoci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vXKY0l3kETR8Vc6sgq2XNne1/lKbiPCcvpVE+FibNlzcd0qcGOU3VnRHzlPx0D37</DigestValue>
      </Reference>
      <Reference URI="/ppt/slideLayouts/slideLayout1.xml?ContentType=application/vnd.openxmlformats-officedocument.presentationml.slideLayout+xml">
        <DigestMethod Algorithm="http://www.w3.org/2001/04/xmldsig-more#sha384"/>
        <DigestValue>4fFByoDqxc+w/+6DmM0VjyvZ96+/rJq3b6VhsYPmkKdkOjeD9KX5OAQBzFCmyHb2</DigestValue>
      </Reference>
      <Reference URI="/ppt/slideLayouts/slideLayout10.xml?ContentType=application/vnd.openxmlformats-officedocument.presentationml.slideLayout+xml">
        <DigestMethod Algorithm="http://www.w3.org/2001/04/xmldsig-more#sha384"/>
        <DigestValue>rXypJMms/kWbzXIM446KykzOmFGyNLT5m/xqQNrCiaHIO9rQrnePSvoj/JSvcAes</DigestValue>
      </Reference>
      <Reference URI="/ppt/slideLayouts/slideLayout11.xml?ContentType=application/vnd.openxmlformats-officedocument.presentationml.slideLayout+xml">
        <DigestMethod Algorithm="http://www.w3.org/2001/04/xmldsig-more#sha384"/>
        <DigestValue>nBDmApEQxQzO4PR9LbzcRIJ1r/dqcBE9hihYJyF6n1qgW530AL74STupR8gpPhKs</DigestValue>
      </Reference>
      <Reference URI="/ppt/slideLayouts/slideLayout2.xml?ContentType=application/vnd.openxmlformats-officedocument.presentationml.slideLayout+xml">
        <DigestMethod Algorithm="http://www.w3.org/2001/04/xmldsig-more#sha384"/>
        <DigestValue>4PhyZYc6/aXsapdv2ThEj9/ApTQQxdGbGhcZnH4oK8SMYnTftJdChGX0Z4Wpxuax</DigestValue>
      </Reference>
      <Reference URI="/ppt/slideLayouts/slideLayout3.xml?ContentType=application/vnd.openxmlformats-officedocument.presentationml.slideLayout+xml">
        <DigestMethod Algorithm="http://www.w3.org/2001/04/xmldsig-more#sha384"/>
        <DigestValue>bWpN3/46+TYwKcE/6C7L6EbSA6X7r3lGNiAxsK1QYM3ZSS/gYM3iVQcqK4CO3Hu3</DigestValue>
      </Reference>
      <Reference URI="/ppt/slideLayouts/slideLayout4.xml?ContentType=application/vnd.openxmlformats-officedocument.presentationml.slideLayout+xml">
        <DigestMethod Algorithm="http://www.w3.org/2001/04/xmldsig-more#sha384"/>
        <DigestValue>EzrMJSCmTf0LukBs2a5zOLQl+4K+11i6Zl7vU3BpNpmvkjpv5/X2jo6iv7yPI65O</DigestValue>
      </Reference>
      <Reference URI="/ppt/slideLayouts/slideLayout5.xml?ContentType=application/vnd.openxmlformats-officedocument.presentationml.slideLayout+xml">
        <DigestMethod Algorithm="http://www.w3.org/2001/04/xmldsig-more#sha384"/>
        <DigestValue>1LL9AJaYsIPhaBoitZp2Z90q7b7MA4koha9Srk9ER5ES40/n1AHsh57Fqm6XU/79</DigestValue>
      </Reference>
      <Reference URI="/ppt/slideLayouts/slideLayout6.xml?ContentType=application/vnd.openxmlformats-officedocument.presentationml.slideLayout+xml">
        <DigestMethod Algorithm="http://www.w3.org/2001/04/xmldsig-more#sha384"/>
        <DigestValue>wMXAc/3+MvNcQWRPWKnmC6hqEWO6tvSbC22/Fu5Ck5z+haV/JSEtznXLOh0pOBLy</DigestValue>
      </Reference>
      <Reference URI="/ppt/slideLayouts/slideLayout7.xml?ContentType=application/vnd.openxmlformats-officedocument.presentationml.slideLayout+xml">
        <DigestMethod Algorithm="http://www.w3.org/2001/04/xmldsig-more#sha384"/>
        <DigestValue>MkGftPYDMAsIAmZgnfL4JfkRGTBtMnBaN8GiZp98oqiybqRHzyhc9BDziwGcVSrH</DigestValue>
      </Reference>
      <Reference URI="/ppt/slideLayouts/slideLayout8.xml?ContentType=application/vnd.openxmlformats-officedocument.presentationml.slideLayout+xml">
        <DigestMethod Algorithm="http://www.w3.org/2001/04/xmldsig-more#sha384"/>
        <DigestValue>ZzUTvD7B2cgF0n+kwIpVvDK4/wQ0IZw3b+K5U5tIHvzeYst3P6MhWXwC0BxNFxMI</DigestValue>
      </Reference>
      <Reference URI="/ppt/slideLayouts/slideLayout9.xml?ContentType=application/vnd.openxmlformats-officedocument.presentationml.slideLayout+xml">
        <DigestMethod Algorithm="http://www.w3.org/2001/04/xmldsig-more#sha384"/>
        <DigestValue>9mrYYFCJw5qlhdh/HoXgLFxMgSv4GNC8K/VvHqb8UL6g8dLD22SIs1o4MJEXBago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47ZJuK8ikC1eoQBhAP2kn50k7c4+/v2BvYxSahNLv8Kg5z7ff8LPtrVHaVAuIS5G</DigestValue>
      </Reference>
      <Reference URI="/ppt/slideMasters/slideMaster1.xml?ContentType=application/vnd.openxmlformats-officedocument.presentationml.slideMaster+xml">
        <DigestMethod Algorithm="http://www.w3.org/2001/04/xmldsig-more#sha384"/>
        <DigestValue>M7koemMndxX6WMMVef1j8kLToY/zkeY73EG1JzT0DEHD90YE2M21ccdBehRdd19E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1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dsig-more#sha384"/>
        <DigestValue>AvoK3ALLBATAyd8EweU13U8GWZ9UZW5S8F3BV4eCsX2b0lg880WQgIJgmsY+bKN9</DigestValue>
      </Reference>
      <Reference URI="/ppt/slides/_rels/slide1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bi9vKcZUEtt4FcvM4PERZ7EXdkYcAno4r+hITMZ8cn31Hrp5mrG78nGAQglM5pSP</DigestValue>
      </Reference>
      <Reference URI="/ppt/slides/_rels/slide1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dsig-more#sha384"/>
        <DigestValue>3PCBd/7D21+U+BoLQJmtUpgiN14LtjTvnkbhOaAo+EgiN4H7ESArlancsZSSVrRv</DigestValue>
      </Reference>
      <Reference URI="/ppt/slides/_rels/slide2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2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_rels/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dsig-more#sha384"/>
        <DigestValue>ZKjue2dCKZIZjWOn0IfZysBt96pOFXWf7VjMEZgKIqpRM7gWuxBQpYFKH3oGljHV</DigestValue>
      </Reference>
      <Reference URI="/ppt/slides/slide1.xml?ContentType=application/vnd.openxmlformats-officedocument.presentationml.slide+xml">
        <DigestMethod Algorithm="http://www.w3.org/2001/04/xmldsig-more#sha384"/>
        <DigestValue>6Q3h4pKLOVEfH/rfcs02chaYW4R0bywvpTRGpgDpwmLiulskGzpPxP4z3C2EbXrs</DigestValue>
      </Reference>
      <Reference URI="/ppt/slides/slide10.xml?ContentType=application/vnd.openxmlformats-officedocument.presentationml.slide+xml">
        <DigestMethod Algorithm="http://www.w3.org/2001/04/xmldsig-more#sha384"/>
        <DigestValue>XrrjYDcSxJFdfutQNhFSp+nkmVlgC+zW2OSYr/RjOT/3syiF7NlYB03BtoBbVK4Z</DigestValue>
      </Reference>
      <Reference URI="/ppt/slides/slide11.xml?ContentType=application/vnd.openxmlformats-officedocument.presentationml.slide+xml">
        <DigestMethod Algorithm="http://www.w3.org/2001/04/xmldsig-more#sha384"/>
        <DigestValue>VgGfxt6dbWwEIKkZkyNkAtvfoh4XNI41E+urGRjcOsqh3MOAwkFMIw6FunM1+8ot</DigestValue>
      </Reference>
      <Reference URI="/ppt/slides/slide12.xml?ContentType=application/vnd.openxmlformats-officedocument.presentationml.slide+xml">
        <DigestMethod Algorithm="http://www.w3.org/2001/04/xmldsig-more#sha384"/>
        <DigestValue>bGEDoZyGqlPeXz2Ud9rf7u0ptb3eIu7NDLwR6PEjzbLUGYvV6RyTiVWe3NGKQ8eX</DigestValue>
      </Reference>
      <Reference URI="/ppt/slides/slide13.xml?ContentType=application/vnd.openxmlformats-officedocument.presentationml.slide+xml">
        <DigestMethod Algorithm="http://www.w3.org/2001/04/xmldsig-more#sha384"/>
        <DigestValue>3kTNRK9AZk48w5NYyvW7yR/1AFt6wSrWsZ5dSEXcYyoGLxDDCTBMtn/0RjAnnTKz</DigestValue>
      </Reference>
      <Reference URI="/ppt/slides/slide14.xml?ContentType=application/vnd.openxmlformats-officedocument.presentationml.slide+xml">
        <DigestMethod Algorithm="http://www.w3.org/2001/04/xmldsig-more#sha384"/>
        <DigestValue>z8ZdBGf7KX/cDGoGbmLmq7LS5tkOtelJo0CPe5qlQxmYcnKkxpXNiL7IFwq4rH51</DigestValue>
      </Reference>
      <Reference URI="/ppt/slides/slide15.xml?ContentType=application/vnd.openxmlformats-officedocument.presentationml.slide+xml">
        <DigestMethod Algorithm="http://www.w3.org/2001/04/xmldsig-more#sha384"/>
        <DigestValue>iyOhGRQ/8U5Xav1be5wT5x+OevadUR2lcBSso+0RtCPUh4Ffy7uNgjpLZX2OlxrN</DigestValue>
      </Reference>
      <Reference URI="/ppt/slides/slide16.xml?ContentType=application/vnd.openxmlformats-officedocument.presentationml.slide+xml">
        <DigestMethod Algorithm="http://www.w3.org/2001/04/xmldsig-more#sha384"/>
        <DigestValue>muP/T3AMvwkb4B4+OXRyOXPslmvV0VF/oQshvXvrW7mqRnFfOpmrYrG3jb0OsKr1</DigestValue>
      </Reference>
      <Reference URI="/ppt/slides/slide17.xml?ContentType=application/vnd.openxmlformats-officedocument.presentationml.slide+xml">
        <DigestMethod Algorithm="http://www.w3.org/2001/04/xmldsig-more#sha384"/>
        <DigestValue>S4BDmCraHB3lu++MKPuNWp8PbTqOr/+hYR0KWFv6IW6SaT2JCTGjKnE7wgV3sZA8</DigestValue>
      </Reference>
      <Reference URI="/ppt/slides/slide18.xml?ContentType=application/vnd.openxmlformats-officedocument.presentationml.slide+xml">
        <DigestMethod Algorithm="http://www.w3.org/2001/04/xmldsig-more#sha384"/>
        <DigestValue>drYBYXAW0VnmX4Ny8zjvvSre5sxKoMg/O5t3XSqfzyluLU5oc5Co7XrzwovlpRtx</DigestValue>
      </Reference>
      <Reference URI="/ppt/slides/slide19.xml?ContentType=application/vnd.openxmlformats-officedocument.presentationml.slide+xml">
        <DigestMethod Algorithm="http://www.w3.org/2001/04/xmldsig-more#sha384"/>
        <DigestValue>NlUlzGQN5TUhCO7ZFE7Zg/3aX5mH36F+mpFaX1mWWybSbEQgwi1X+zA8KvFiJz9E</DigestValue>
      </Reference>
      <Reference URI="/ppt/slides/slide2.xml?ContentType=application/vnd.openxmlformats-officedocument.presentationml.slide+xml">
        <DigestMethod Algorithm="http://www.w3.org/2001/04/xmldsig-more#sha384"/>
        <DigestValue>WUvplUnsZPrSrMMLsmxAc5yqh2592K71VBsec1BiTSvxdp68g8y40voWjY1U9X7T</DigestValue>
      </Reference>
      <Reference URI="/ppt/slides/slide20.xml?ContentType=application/vnd.openxmlformats-officedocument.presentationml.slide+xml">
        <DigestMethod Algorithm="http://www.w3.org/2001/04/xmldsig-more#sha384"/>
        <DigestValue>2iG4+INuSGwHz1fXCfj2yf5Rdxoos9WseVIZm7bZh/Lai/k4jWUS57bCaGMhyb35</DigestValue>
      </Reference>
      <Reference URI="/ppt/slides/slide21.xml?ContentType=application/vnd.openxmlformats-officedocument.presentationml.slide+xml">
        <DigestMethod Algorithm="http://www.w3.org/2001/04/xmldsig-more#sha384"/>
        <DigestValue>rHO3i21/d3OlnoxJDETP7Qw5RnNlHD7YPwY+l2iRxl3jzTbjgWRX6eD5dQDfQKcv</DigestValue>
      </Reference>
      <Reference URI="/ppt/slides/slide22.xml?ContentType=application/vnd.openxmlformats-officedocument.presentationml.slide+xml">
        <DigestMethod Algorithm="http://www.w3.org/2001/04/xmldsig-more#sha384"/>
        <DigestValue>ibnbikWa45AJJXRqikApUBQhw/gcwrd3m9aqcqDlUsNHQV+W7hy/CidWQkoWAtDK</DigestValue>
      </Reference>
      <Reference URI="/ppt/slides/slide23.xml?ContentType=application/vnd.openxmlformats-officedocument.presentationml.slide+xml">
        <DigestMethod Algorithm="http://www.w3.org/2001/04/xmldsig-more#sha384"/>
        <DigestValue>DujLMzuY4gLHy9I4yRtzp/SqHR6m0KSGhBD4BNamu6K6rXWWWUpr/fA/6Tgp2kUG</DigestValue>
      </Reference>
      <Reference URI="/ppt/slides/slide24.xml?ContentType=application/vnd.openxmlformats-officedocument.presentationml.slide+xml">
        <DigestMethod Algorithm="http://www.w3.org/2001/04/xmldsig-more#sha384"/>
        <DigestValue>fkaixQBzoFk206dnxa43jl3ESc+2H8Nc4+PfG4P18UlIb/WiBtt2TlLp4wk3OhKt</DigestValue>
      </Reference>
      <Reference URI="/ppt/slides/slide25.xml?ContentType=application/vnd.openxmlformats-officedocument.presentationml.slide+xml">
        <DigestMethod Algorithm="http://www.w3.org/2001/04/xmldsig-more#sha384"/>
        <DigestValue>fFvpLzqz7IPH1gxSRB94MZk/cSwnySRJ2I5DugBGjd4SdNEftG7XWTpdo3jXWlvn</DigestValue>
      </Reference>
      <Reference URI="/ppt/slides/slide26.xml?ContentType=application/vnd.openxmlformats-officedocument.presentationml.slide+xml">
        <DigestMethod Algorithm="http://www.w3.org/2001/04/xmldsig-more#sha384"/>
        <DigestValue>Lj3DF3HS/9IIe2URYvI7QAchAIaayknMzDMNcl0t4Ulp2eJkH3bpZe3DOPFcxjT3</DigestValue>
      </Reference>
      <Reference URI="/ppt/slides/slide27.xml?ContentType=application/vnd.openxmlformats-officedocument.presentationml.slide+xml">
        <DigestMethod Algorithm="http://www.w3.org/2001/04/xmldsig-more#sha384"/>
        <DigestValue>CKcOmNmtJrhQ8IQGFkXAbq0rEgh+qtUieCusvsrNRP3e7drtCDCz20HYgL9nEhQw</DigestValue>
      </Reference>
      <Reference URI="/ppt/slides/slide28.xml?ContentType=application/vnd.openxmlformats-officedocument.presentationml.slide+xml">
        <DigestMethod Algorithm="http://www.w3.org/2001/04/xmldsig-more#sha384"/>
        <DigestValue>l0bo9clfbbRA0rnB5DxNy1BSxHMtGV9l7EmvvbRaLqZiq6C3QxCcT7QC1x+rDmez</DigestValue>
      </Reference>
      <Reference URI="/ppt/slides/slide29.xml?ContentType=application/vnd.openxmlformats-officedocument.presentationml.slide+xml">
        <DigestMethod Algorithm="http://www.w3.org/2001/04/xmldsig-more#sha384"/>
        <DigestValue>qQWnF3d6eraVfRjqZi81eCzbNefqx69sQfAyjxBYoZ99uiDEQPmyXxdcDBQCvW7k</DigestValue>
      </Reference>
      <Reference URI="/ppt/slides/slide3.xml?ContentType=application/vnd.openxmlformats-officedocument.presentationml.slide+xml">
        <DigestMethod Algorithm="http://www.w3.org/2001/04/xmldsig-more#sha384"/>
        <DigestValue>OqwGhwEo76mCV63uzq820gQTSIWHqca9LyF1tEp/2dkbhztwQ8vIiq5J5Xd8hJTN</DigestValue>
      </Reference>
      <Reference URI="/ppt/slides/slide4.xml?ContentType=application/vnd.openxmlformats-officedocument.presentationml.slide+xml">
        <DigestMethod Algorithm="http://www.w3.org/2001/04/xmldsig-more#sha384"/>
        <DigestValue>5Tvh9ENQBqxwNq244ZAYktvP1da8C1vIHigqdaHMhycbf/VZK5vV473Y4kMYrMwM</DigestValue>
      </Reference>
      <Reference URI="/ppt/slides/slide5.xml?ContentType=application/vnd.openxmlformats-officedocument.presentationml.slide+xml">
        <DigestMethod Algorithm="http://www.w3.org/2001/04/xmldsig-more#sha384"/>
        <DigestValue>ratUv4f/rvXkl2WuL3E78AFyjkvjTkfHoL0h1iL6lKfRjUAwHmAONN0MITRACOSW</DigestValue>
      </Reference>
      <Reference URI="/ppt/slides/slide6.xml?ContentType=application/vnd.openxmlformats-officedocument.presentationml.slide+xml">
        <DigestMethod Algorithm="http://www.w3.org/2001/04/xmldsig-more#sha384"/>
        <DigestValue>2Lj0yFcIviSzPlSVbLKxeIwwjvKYTsaKOPxgv5batGCwm1jT44I9+lVGxd/uiAZc</DigestValue>
      </Reference>
      <Reference URI="/ppt/slides/slide7.xml?ContentType=application/vnd.openxmlformats-officedocument.presentationml.slide+xml">
        <DigestMethod Algorithm="http://www.w3.org/2001/04/xmldsig-more#sha384"/>
        <DigestValue>o+XhfBRnyzO2PDWuV1P53rhw6kp9QFvzVOXtPKevjqTiGXsHeXXTYHccnL2QgO5x</DigestValue>
      </Reference>
      <Reference URI="/ppt/slides/slide8.xml?ContentType=application/vnd.openxmlformats-officedocument.presentationml.slide+xml">
        <DigestMethod Algorithm="http://www.w3.org/2001/04/xmldsig-more#sha384"/>
        <DigestValue>VJ6ochJuEy+DVJfjA6vReib8iLrX7iMpHvUpiQjFxfTsVG6ODCG6Ra61x5+1ILEG</DigestValue>
      </Reference>
      <Reference URI="/ppt/slides/slide9.xml?ContentType=application/vnd.openxmlformats-officedocument.presentationml.slide+xml">
        <DigestMethod Algorithm="http://www.w3.org/2001/04/xmldsig-more#sha384"/>
        <DigestValue>EaVia3qlt4PO+12jPoG6ur2iHtYjwPL26G/g7SuD+QG2tyjozjT+2YEj7cBcOH0L</DigestValue>
      </Reference>
      <Reference URI="/ppt/tableStyles.xml?ContentType=application/vnd.openxmlformats-officedocument.presentationml.tableStyles+xml">
        <DigestMethod Algorithm="http://www.w3.org/2001/04/xmldsig-more#sha384"/>
        <DigestValue>gDZ57DxKyqzyv51VHoPJqpRfqFtS6zxVbdP98+ujY8s0/T3nOgXPpG6TB4aQ3KFc</DigestValue>
      </Reference>
      <Reference URI="/ppt/theme/theme1.xml?ContentType=application/vnd.openxmlformats-officedocument.theme+xml">
        <DigestMethod Algorithm="http://www.w3.org/2001/04/xmldsig-more#sha384"/>
        <DigestValue>qs3oy3MjnXw7dJlojn7tAmLu2V67n/z/Im76qfeMTBFuoWTCsUe4I771fXWZ3G5U</DigestValue>
      </Reference>
      <Reference URI="/ppt/viewProps.xml?ContentType=application/vnd.openxmlformats-officedocument.presentationml.viewProps+xml">
        <DigestMethod Algorithm="http://www.w3.org/2001/04/xmldsig-more#sha384"/>
        <DigestValue>D9J8ziXFzRd/fiuJdj9hFF7cO/q1HuP3BL3JlGLSAG9fQ0c9vC2Y+fW7Vp9bTdZE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2026-08-29T16:54:09Z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>Submission for IBM review</SignatureComments>
          <WindowsVersion>10.0</WindowsVersion>
          <OfficeVersion>16.0.20326/27</OfficeVersion>
          <ApplicationVersion>16.0.20326</ApplicationVersion>
          <Monitors>1</Monitors>
          <HorizontalResolution>1920</HorizontalResolution>
          <VerticalResolution>1080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2026-08-29T16:54:09Z</xd:SigningTime>
          <xd:SigningCertificate>
            <xd:Cert>
              <xd:CertDigest>
                <DigestMethod Algorithm="http://www.w3.org/2001/04/xmldsig-more#sha384"/>
                <DigestValue>AAGwLZ0Mju8BR7lCmJFzSejv/Gfu6+ToSzLGusuNTd9Nzga1YrQDdyDar9Vdx84e</DigestValue>
              </xd:CertDigest>
              <xd:IssuerSerial>
                <X509IssuerName>CN=caa22cf1-c13f-437c-bafd-aa6392590931</X509IssuerName>
                <X509SerialNumber>17818523955636312980</X509SerialNumber>
              </xd:IssuerSerial>
            </xd:Cert>
          </xd:SigningCertificate>
          <xd:SignaturePolicyIdentifier>
            <xd:SignaturePolicyImplied/>
          </xd:SignaturePolicyIdentifier>
        </xd:SignedSignatureProperties>
        <xd:SignedDataObjectProperties>
          <xd:CommitmentTypeIndication>
            <xd:CommitmentTypeId>
              <xd:Identifier>http://uri.etsi.org/01903/v1.2.2#ProofOfOrigin</xd:Identifier>
              <xd:Description>Created and approved this document</xd:Description>
            </xd:CommitmentTypeId>
            <xd:AllSignedDataObjects/>
            <xd:CommitmentTypeQualifiers>
              <xd:CommitmentTypeQualifier>Submission for IBM review</xd:CommitmentTypeQualifier>
            </xd:CommitmentTypeQualifiers>
          </xd:CommitmentTypeIndication>
        </xd:SignedDataObjectProperties>
      </xd: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3040</Words>
  <Application>Microsoft Office PowerPoint</Application>
  <PresentationFormat>Custom</PresentationFormat>
  <Paragraphs>371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2026-08-29T16:53:31Z</dcterms:created>
  <dcterms:modified xsi:type="dcterms:W3CDTF">2026-08-29T16:53:59Z</dcterms:modified>
  <cp:category/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